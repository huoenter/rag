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68" r:id="rId3"/>
    <p:sldId id="269" r:id="rId4"/>
    <p:sldId id="303" r:id="rId5"/>
    <p:sldId id="302" r:id="rId6"/>
    <p:sldId id="294" r:id="rId7"/>
    <p:sldId id="295" r:id="rId8"/>
    <p:sldId id="270" r:id="rId9"/>
    <p:sldId id="271" r:id="rId10"/>
    <p:sldId id="272" r:id="rId11"/>
    <p:sldId id="267" r:id="rId12"/>
    <p:sldId id="293" r:id="rId13"/>
    <p:sldId id="259" r:id="rId14"/>
    <p:sldId id="274" r:id="rId15"/>
    <p:sldId id="273" r:id="rId16"/>
    <p:sldId id="297" r:id="rId17"/>
    <p:sldId id="257" r:id="rId18"/>
    <p:sldId id="298" r:id="rId19"/>
    <p:sldId id="258" r:id="rId20"/>
    <p:sldId id="260" r:id="rId21"/>
    <p:sldId id="282" r:id="rId22"/>
    <p:sldId id="283" r:id="rId23"/>
    <p:sldId id="285" r:id="rId24"/>
    <p:sldId id="284" r:id="rId25"/>
    <p:sldId id="286" r:id="rId26"/>
    <p:sldId id="287" r:id="rId27"/>
    <p:sldId id="299" r:id="rId28"/>
    <p:sldId id="301" r:id="rId29"/>
    <p:sldId id="296" r:id="rId30"/>
    <p:sldId id="278" r:id="rId31"/>
    <p:sldId id="279" r:id="rId32"/>
    <p:sldId id="280" r:id="rId33"/>
    <p:sldId id="281" r:id="rId34"/>
    <p:sldId id="288" r:id="rId35"/>
    <p:sldId id="289" r:id="rId36"/>
    <p:sldId id="290" r:id="rId37"/>
    <p:sldId id="291" r:id="rId38"/>
    <p:sldId id="292" r:id="rId39"/>
    <p:sldId id="261" r:id="rId40"/>
    <p:sldId id="262" r:id="rId41"/>
    <p:sldId id="263" r:id="rId42"/>
    <p:sldId id="275" r:id="rId43"/>
    <p:sldId id="276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5"/>
    <p:restoredTop sz="83810"/>
  </p:normalViewPr>
  <p:slideViewPr>
    <p:cSldViewPr>
      <p:cViewPr varScale="1">
        <p:scale>
          <a:sx n="106" d="100"/>
          <a:sy n="106" d="100"/>
        </p:scale>
        <p:origin x="19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816513B6-1825-BC4F-ABC3-9FCF9AF62DD9}" type="datetimeFigureOut">
              <a:rPr lang="en-US"/>
              <a:pPr>
                <a:defRPr/>
              </a:pPr>
              <a:t>12/3/23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344124A-F988-2847-BCEB-1CFAF1BE59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4F72C09-1E8C-CE44-9C85-6757A00726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EC9F774-4E15-6C47-BA85-7BC4720D8909}" type="slidenum">
              <a:rPr lang="en-US" altLang="en-US" sz="1200"/>
              <a:pPr/>
              <a:t>1</a:t>
            </a:fld>
            <a:endParaRPr lang="en-US" altLang="en-US" sz="1200" dirty="0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which I really, really, really don’t want to refactor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F72C09-1E8C-CE44-9C85-6757A00726E9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0547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F72C09-1E8C-CE44-9C85-6757A00726E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687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1BEFDB6-F8E8-034D-8D01-A19111EAB0F4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DE59086-47BA-7040-9AA0-19C4DA7FC826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My Newer System is said to be the client because it uses the existing system.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37FAD34-66D0-4841-91E0-1F84FC034CB5}" type="slidenum">
              <a:rPr lang="en-US" altLang="en-US" sz="1200"/>
              <a:pPr/>
              <a:t>15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Client is written against the “target interface” </a:t>
            </a:r>
          </a:p>
          <a:p>
            <a:pPr eaLnBrk="1" hangingPunct="1"/>
            <a:endParaRPr lang="en-US" altLang="en-US">
              <a:ea typeface="ＭＳ Ｐゴシック" charset="-128"/>
            </a:endParaRPr>
          </a:p>
          <a:p>
            <a:pPr eaLnBrk="1" hangingPunct="1"/>
            <a:r>
              <a:rPr lang="en-US" altLang="en-US">
                <a:ea typeface="ＭＳ Ｐゴシック" charset="-128"/>
              </a:rPr>
              <a:t>Adapter implements the target interface and holds an instance of the </a:t>
            </a:r>
            <a:r>
              <a:rPr lang="en-US" altLang="en-US" err="1">
                <a:ea typeface="ＭＳ Ｐゴシック" charset="-128"/>
              </a:rPr>
              <a:t>Adaptee</a:t>
            </a:r>
            <a:r>
              <a:rPr lang="en-US" altLang="en-US">
                <a:ea typeface="ＭＳ Ｐゴシック" charset="-128"/>
              </a:rPr>
              <a:t>. </a:t>
            </a:r>
            <a:r>
              <a:rPr lang="en-US" altLang="en-US" b="1">
                <a:ea typeface="ＭＳ Ｐゴシック" charset="-128"/>
              </a:rPr>
              <a:t>WRAPPING IT</a:t>
            </a:r>
            <a:r>
              <a:rPr lang="en-US" altLang="en-US">
                <a:ea typeface="ＭＳ Ｐゴシック" charset="-128"/>
              </a:rPr>
              <a:t>. 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37FAD34-66D0-4841-91E0-1F84FC034CB5}" type="slidenum">
              <a:rPr lang="en-US" altLang="en-US" sz="1200"/>
              <a:pPr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63512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E27366A-4BA6-7443-9375-7222984905E1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Client is written against the “target interface” </a:t>
            </a:r>
          </a:p>
          <a:p>
            <a:pPr eaLnBrk="1" hangingPunct="1"/>
            <a:endParaRPr lang="en-US" altLang="en-US">
              <a:ea typeface="ＭＳ Ｐゴシック" charset="-128"/>
            </a:endParaRPr>
          </a:p>
          <a:p>
            <a:pPr eaLnBrk="1" hangingPunct="1"/>
            <a:r>
              <a:rPr lang="en-US" altLang="en-US">
                <a:ea typeface="ＭＳ Ｐゴシック" charset="-128"/>
              </a:rPr>
              <a:t>Adapter implements the target interface and holds an instance of the </a:t>
            </a:r>
            <a:r>
              <a:rPr lang="en-US" altLang="en-US" err="1">
                <a:ea typeface="ＭＳ Ｐゴシック" charset="-128"/>
              </a:rPr>
              <a:t>Adaptee</a:t>
            </a:r>
            <a:r>
              <a:rPr lang="en-US" altLang="en-US">
                <a:ea typeface="ＭＳ Ｐゴシック" charset="-128"/>
              </a:rPr>
              <a:t>. </a:t>
            </a:r>
            <a:r>
              <a:rPr lang="en-US" altLang="en-US" b="1">
                <a:ea typeface="ＭＳ Ｐゴシック" charset="-128"/>
              </a:rPr>
              <a:t>WRAPPING IT</a:t>
            </a:r>
            <a:r>
              <a:rPr lang="en-US" altLang="en-US">
                <a:ea typeface="ＭＳ Ｐゴシック" charset="-128"/>
              </a:rPr>
              <a:t>. 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37FAD34-66D0-4841-91E0-1F84FC034CB5}" type="slidenum">
              <a:rPr lang="en-US" altLang="en-US" sz="1200"/>
              <a:pPr/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91375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4960548-C4BB-4743-B3E4-9BF5B94B72A4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draw the next one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923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0928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51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419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6178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6848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8282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BFAAF03-E0E1-4244-97D7-068336174D7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232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7498E8-6DF8-B14C-8E76-3DA7F1CDF766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arenR"/>
            </a:pPr>
            <a:r>
              <a:rPr lang="en-US" altLang="en-US">
                <a:ea typeface="ＭＳ Ｐゴシック" charset="-128"/>
              </a:rPr>
              <a:t>Adapter makes an instance of class A act as an instance of class B</a:t>
            </a:r>
          </a:p>
          <a:p>
            <a:pPr marL="228600" indent="-228600" eaLnBrk="1" hangingPunct="1">
              <a:buFontTx/>
              <a:buAutoNum type="arabicParenR"/>
            </a:pPr>
            <a:r>
              <a:rPr lang="en-US" altLang="en-US">
                <a:ea typeface="ＭＳ Ｐゴシック" charset="-128"/>
              </a:rPr>
              <a:t>Decorator returns an object of same type.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4D15891-7D7C-244A-BB6F-1B7E161C7820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5804297-3A8B-AA43-919F-B4BB045BD099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348" y="1371600"/>
            <a:ext cx="8147304" cy="1344168"/>
          </a:xfrm>
        </p:spPr>
        <p:txBody>
          <a:bodyPr rtlCol="0"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algn="ctr" defTabSz="914400" rtl="0" eaLnBrk="1" latinLnBrk="0" hangingPunct="1">
              <a:lnSpc>
                <a:spcPts val="64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348" y="2715767"/>
            <a:ext cx="8147304" cy="667512"/>
          </a:xfrm>
        </p:spPr>
        <p:txBody>
          <a:bodyPr rtlCol="0">
            <a:normAutofit/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 defTabSz="914400" rtl="0" eaLnBrk="1" latinLnBrk="0" hangingPunct="1"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2200" b="0" kern="120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ct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charset="0"/>
              </a:defRPr>
            </a:lvl1pPr>
          </a:lstStyle>
          <a:p>
            <a:pPr>
              <a:defRPr/>
            </a:pPr>
            <a:fld id="{E9AAB5DA-59C7-D84D-84F1-C4D797745A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815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50F76-FA11-6148-BD0B-39F7DF3AC4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82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475" y="4343398"/>
            <a:ext cx="8147049" cy="1346013"/>
          </a:xfrm>
        </p:spPr>
        <p:txBody>
          <a:bodyPr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>
              <a:lnSpc>
                <a:spcPts val="6400"/>
              </a:lnSpc>
              <a:defRPr sz="6000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475" y="5688105"/>
            <a:ext cx="8147050" cy="663387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>
              <a:spcBef>
                <a:spcPts val="0"/>
              </a:spcBef>
              <a:buNone/>
              <a:defRPr b="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981200" y="685800"/>
            <a:ext cx="5181600" cy="3352800"/>
          </a:xfrm>
          <a:solidFill>
            <a:schemeClr val="tx1">
              <a:lumMod val="75000"/>
            </a:schemeClr>
          </a:solidFill>
          <a:ln w="127000" cap="sq">
            <a:solidFill>
              <a:schemeClr val="tx1"/>
            </a:solidFill>
            <a:miter lim="800000"/>
          </a:ln>
          <a:effectLst>
            <a:outerShdw blurRad="63500" sx="101000" sy="101000" algn="ctr" rotWithShape="0">
              <a:schemeClr val="bg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9000000"/>
            </a:lightRig>
          </a:scene3d>
          <a:sp3d prstMaterial="matte">
            <a:bevelT w="12700" prst="relaxedInset"/>
            <a:bevelB w="38100" h="127000" prst="relaxedInset"/>
            <a:extrusionClr>
              <a:schemeClr val="tx1"/>
            </a:extrusionClr>
            <a:contourClr>
              <a:schemeClr val="tx1"/>
            </a:contourClr>
          </a:sp3d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1D12A450-B44E-414C-8376-6E259C70E8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58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1774826"/>
            <a:ext cx="8147050" cy="1873250"/>
          </a:xfrm>
        </p:spPr>
        <p:txBody>
          <a:bodyPr/>
          <a:lstStyle>
            <a:lvl1pPr algn="ctr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3654519"/>
            <a:ext cx="8147050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310A2-4A6B-9543-9A07-CFE5EC28B0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02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29"/>
            <a:ext cx="8147051" cy="14522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475" y="1762125"/>
            <a:ext cx="3840480" cy="43640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5046" y="1762125"/>
            <a:ext cx="3840480" cy="43640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290763" indent="-461963"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1E42-BF58-554B-91B6-1F16A61A4D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58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03238" y="2352675"/>
            <a:ext cx="3840162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5363" y="2352675"/>
            <a:ext cx="3840162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29"/>
            <a:ext cx="8147051" cy="14522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550894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75" y="2541494"/>
            <a:ext cx="3840480" cy="35846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5046" y="1550894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5046" y="2541494"/>
            <a:ext cx="3840480" cy="35846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CDF89A-9D19-2C40-9179-EDE82C68A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3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A2D2F-6800-2F40-9748-71DEFBFEDB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239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10080-C699-AE40-A86A-326F18A5CF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09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59"/>
            <a:ext cx="3840480" cy="1994647"/>
          </a:xfrm>
        </p:spPr>
        <p:txBody>
          <a:bodyPr/>
          <a:lstStyle>
            <a:lvl1pPr algn="ctr">
              <a:defRPr sz="4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2532" y="403412"/>
            <a:ext cx="3840480" cy="57227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8B47-07B2-2D43-BD3E-93E0E2F1AA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71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59"/>
            <a:ext cx="3840480" cy="1994647"/>
          </a:xfrm>
        </p:spPr>
        <p:txBody>
          <a:bodyPr/>
          <a:lstStyle>
            <a:lvl1pPr algn="ctr">
              <a:defRPr sz="4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4805045" y="430306"/>
            <a:ext cx="3840480" cy="5432612"/>
          </a:xfrm>
          <a:solidFill>
            <a:schemeClr val="bg1">
              <a:lumMod val="8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76200" dist="12700" dir="5400000" sx="100500" sy="100500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extrusionH="50800">
            <a:extrusionClr>
              <a:schemeClr val="tx1"/>
            </a:extrusionClr>
            <a:contourClr>
              <a:schemeClr val="tx1"/>
            </a:contourClr>
          </a:sp3d>
        </p:spPr>
        <p:txBody>
          <a:bodyPr rtlCol="0">
            <a:normAutofit/>
          </a:bodyPr>
          <a:lstStyle>
            <a:lvl1pPr marL="457200" indent="-457200" algn="l" defTabSz="914400" rtl="0" eaLnBrk="1" latinLnBrk="0" hangingPunct="1">
              <a:spcBef>
                <a:spcPts val="2000"/>
              </a:spcBef>
              <a:buClr>
                <a:schemeClr val="accent2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92735-24AE-3045-B4EE-17E1D69BB8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88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7pPr marL="2743200" indent="-457200">
              <a:defRPr/>
            </a:lvl7pPr>
            <a:lvl8pPr marL="2743200" indent="-457200">
              <a:defRPr/>
            </a:lvl8pPr>
            <a:lvl9pPr marL="2743200" indent="-4572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2749B-6A60-F44B-9A86-AC4632FCD1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329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1412" y="417513"/>
            <a:ext cx="1600200" cy="5708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1174" y="417513"/>
            <a:ext cx="6499225" cy="570865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5876C-B410-3445-BABD-F1CC59F40C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294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ct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 smtClean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charset="0"/>
              </a:defRPr>
            </a:lvl1pPr>
          </a:lstStyle>
          <a:p>
            <a:pPr>
              <a:defRPr/>
            </a:pPr>
            <a:fld id="{1A1B569F-D3BC-564B-8D00-28E61EC7A1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178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8475" y="93663"/>
            <a:ext cx="814705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475" y="1762125"/>
            <a:ext cx="8147050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913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18313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 smtClean="0">
                <a:solidFill>
                  <a:srgbClr val="6D6452"/>
                </a:solidFill>
              </a:defRPr>
            </a:lvl1pPr>
          </a:lstStyle>
          <a:p>
            <a:pPr>
              <a:defRPr/>
            </a:pPr>
            <a:fld id="{5161080E-3793-0943-96FF-383B6A1A2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96" r:id="rId2"/>
    <p:sldLayoutId id="2147483706" r:id="rId3"/>
    <p:sldLayoutId id="2147483697" r:id="rId4"/>
    <p:sldLayoutId id="2147483698" r:id="rId5"/>
    <p:sldLayoutId id="214748370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8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Book Antiqua" charset="0"/>
          <a:ea typeface="ＭＳ Ｐゴシック" charset="-128"/>
        </a:defRPr>
      </a:lvl9pPr>
    </p:titleStyle>
    <p:bodyStyle>
      <a:lvl1pPr marL="457200" indent="-457200" algn="l" rtl="0" eaLnBrk="0" fontAlgn="base" hangingPunct="0">
        <a:spcBef>
          <a:spcPts val="2000"/>
        </a:spcBef>
        <a:spcAft>
          <a:spcPct val="0"/>
        </a:spcAft>
        <a:buClr>
          <a:srgbClr val="6D6452"/>
        </a:buClr>
        <a:buSzPct val="75000"/>
        <a:buFont typeface="Wingdings 2" charset="2"/>
        <a:buChar char=""/>
        <a:defRPr sz="2200" kern="1200">
          <a:solidFill>
            <a:srgbClr val="6D6452"/>
          </a:solidFill>
          <a:latin typeface="+mn-lt"/>
          <a:ea typeface="ＭＳ Ｐゴシック" charset="-128"/>
          <a:cs typeface="+mn-cs"/>
        </a:defRPr>
      </a:lvl1pPr>
      <a:lvl2pPr marL="914400" indent="-457200" algn="l" rtl="0" eaLnBrk="0" fontAlgn="base" hangingPunct="0">
        <a:spcBef>
          <a:spcPts val="600"/>
        </a:spcBef>
        <a:spcAft>
          <a:spcPct val="0"/>
        </a:spcAft>
        <a:buClr>
          <a:srgbClr val="A49A85"/>
        </a:buClr>
        <a:buSzPct val="75000"/>
        <a:buFont typeface="Wingdings 2" charset="2"/>
        <a:buChar char=""/>
        <a:defRPr sz="2000" kern="1200">
          <a:solidFill>
            <a:srgbClr val="6D6452"/>
          </a:solidFill>
          <a:latin typeface="+mn-lt"/>
          <a:ea typeface="ＭＳ Ｐゴシック" charset="-128"/>
          <a:cs typeface="+mn-cs"/>
        </a:defRPr>
      </a:lvl2pPr>
      <a:lvl3pPr marL="1371600" indent="-457200" algn="l" rtl="0" eaLnBrk="0" fontAlgn="base" hangingPunct="0">
        <a:spcBef>
          <a:spcPts val="600"/>
        </a:spcBef>
        <a:spcAft>
          <a:spcPct val="0"/>
        </a:spcAft>
        <a:buClr>
          <a:srgbClr val="6D6452"/>
        </a:buClr>
        <a:buSzPct val="75000"/>
        <a:buFont typeface="Wingdings 2" charset="2"/>
        <a:buChar char=""/>
        <a:defRPr kern="1200">
          <a:solidFill>
            <a:srgbClr val="6D6452"/>
          </a:solidFill>
          <a:latin typeface="+mn-lt"/>
          <a:ea typeface="ＭＳ Ｐゴシック" charset="-128"/>
          <a:cs typeface="+mn-cs"/>
        </a:defRPr>
      </a:lvl3pPr>
      <a:lvl4pPr marL="1828800" indent="-457200" algn="l" rtl="0" eaLnBrk="0" fontAlgn="base" hangingPunct="0">
        <a:spcBef>
          <a:spcPts val="600"/>
        </a:spcBef>
        <a:spcAft>
          <a:spcPct val="0"/>
        </a:spcAft>
        <a:buClr>
          <a:srgbClr val="A49A85"/>
        </a:buClr>
        <a:buSzPct val="75000"/>
        <a:buFont typeface="Wingdings 2" charset="2"/>
        <a:buChar char=""/>
        <a:defRPr kern="1200">
          <a:solidFill>
            <a:srgbClr val="6D6452"/>
          </a:solidFill>
          <a:latin typeface="+mn-lt"/>
          <a:ea typeface="ＭＳ Ｐゴシック" charset="-128"/>
          <a:cs typeface="+mn-cs"/>
        </a:defRPr>
      </a:lvl4pPr>
      <a:lvl5pPr marL="2286000" indent="-457200" algn="l" rtl="0" eaLnBrk="0" fontAlgn="base" hangingPunct="0">
        <a:spcBef>
          <a:spcPts val="600"/>
        </a:spcBef>
        <a:spcAft>
          <a:spcPct val="0"/>
        </a:spcAft>
        <a:buClr>
          <a:srgbClr val="6D6452"/>
        </a:buClr>
        <a:buSzPct val="75000"/>
        <a:buFont typeface="Wingdings 2" charset="2"/>
        <a:buChar char=""/>
        <a:defRPr kern="1200">
          <a:solidFill>
            <a:srgbClr val="6D6452"/>
          </a:solidFill>
          <a:latin typeface="+mn-lt"/>
          <a:ea typeface="ＭＳ Ｐゴシック" charset="-128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8348" y="1371600"/>
            <a:ext cx="8147304" cy="2667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The Adapter Pattern</a:t>
            </a:r>
            <a:br>
              <a:rPr lang="en-US" dirty="0"/>
            </a:b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896937"/>
          </a:xfrm>
        </p:spPr>
        <p:txBody>
          <a:bodyPr/>
          <a:lstStyle/>
          <a:p>
            <a:pPr eaLnBrk="1" hangingPunct="1"/>
            <a:r>
              <a:rPr lang="en-US" altLang="en-US" sz="4500" dirty="0"/>
              <a:t>An Adapter is… an Adapter!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Just like a power adapter you might take with you when travelling abroad, the Adapter Pattern let’s us fit two existing systems together.</a:t>
            </a:r>
          </a:p>
        </p:txBody>
      </p:sp>
      <p:sp>
        <p:nvSpPr>
          <p:cNvPr id="4" name="Teardrop 3"/>
          <p:cNvSpPr/>
          <p:nvPr/>
        </p:nvSpPr>
        <p:spPr>
          <a:xfrm rot="2817519">
            <a:off x="978694" y="2955131"/>
            <a:ext cx="1862138" cy="1584325"/>
          </a:xfrm>
          <a:prstGeom prst="teardrop">
            <a:avLst>
              <a:gd name="adj" fmla="val 11421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1143000" y="3429000"/>
            <a:ext cx="2057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dirty="0"/>
              <a:t>My Existing System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4572000" y="2819400"/>
            <a:ext cx="3124200" cy="1828800"/>
            <a:chOff x="4572000" y="2819400"/>
            <a:chExt cx="3124200" cy="1828800"/>
          </a:xfrm>
        </p:grpSpPr>
        <p:sp>
          <p:nvSpPr>
            <p:cNvPr id="7" name="Moon 6"/>
            <p:cNvSpPr/>
            <p:nvPr/>
          </p:nvSpPr>
          <p:spPr>
            <a:xfrm rot="10800000">
              <a:off x="4572000" y="2819400"/>
              <a:ext cx="3124200" cy="1828800"/>
            </a:xfrm>
            <a:prstGeom prst="moon">
              <a:avLst>
                <a:gd name="adj" fmla="val 69378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8445" name="TextBox 10"/>
            <p:cNvSpPr txBox="1">
              <a:spLocks noChangeArrowheads="1"/>
            </p:cNvSpPr>
            <p:nvPr/>
          </p:nvSpPr>
          <p:spPr bwMode="auto">
            <a:xfrm>
              <a:off x="5486400" y="3352800"/>
              <a:ext cx="2057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dirty="0"/>
                <a:t>Vendor’s Class</a:t>
              </a:r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2590800" y="2706688"/>
            <a:ext cx="2747963" cy="2035175"/>
            <a:chOff x="2590800" y="2706110"/>
            <a:chExt cx="2747392" cy="2036093"/>
          </a:xfrm>
        </p:grpSpPr>
        <p:grpSp>
          <p:nvGrpSpPr>
            <p:cNvPr id="18440" name="Group 20"/>
            <p:cNvGrpSpPr>
              <a:grpSpLocks/>
            </p:cNvGrpSpPr>
            <p:nvPr/>
          </p:nvGrpSpPr>
          <p:grpSpPr bwMode="auto">
            <a:xfrm>
              <a:off x="2590800" y="2706110"/>
              <a:ext cx="2747392" cy="2036093"/>
              <a:chOff x="2510409" y="2706110"/>
              <a:chExt cx="2747392" cy="2036093"/>
            </a:xfrm>
          </p:grpSpPr>
          <p:sp>
            <p:nvSpPr>
              <p:cNvPr id="17" name="Moon 16"/>
              <p:cNvSpPr/>
              <p:nvPr/>
            </p:nvSpPr>
            <p:spPr>
              <a:xfrm rot="10800000">
                <a:off x="3200829" y="2723580"/>
                <a:ext cx="2056972" cy="2012270"/>
              </a:xfrm>
              <a:prstGeom prst="moon">
                <a:avLst>
                  <a:gd name="adj" fmla="val 87500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510409" y="2706110"/>
                <a:ext cx="1014202" cy="2036093"/>
              </a:xfrm>
              <a:custGeom>
                <a:avLst/>
                <a:gdLst>
                  <a:gd name="connsiteX0" fmla="*/ 706237 w 1014846"/>
                  <a:gd name="connsiteY0" fmla="*/ 23738 h 2065189"/>
                  <a:gd name="connsiteX1" fmla="*/ 0 w 1014846"/>
                  <a:gd name="connsiteY1" fmla="*/ 0 h 2065189"/>
                  <a:gd name="connsiteX2" fmla="*/ 23739 w 1014846"/>
                  <a:gd name="connsiteY2" fmla="*/ 480691 h 2065189"/>
                  <a:gd name="connsiteX3" fmla="*/ 219586 w 1014846"/>
                  <a:gd name="connsiteY3" fmla="*/ 676528 h 2065189"/>
                  <a:gd name="connsiteX4" fmla="*/ 451042 w 1014846"/>
                  <a:gd name="connsiteY4" fmla="*/ 890168 h 2065189"/>
                  <a:gd name="connsiteX5" fmla="*/ 694368 w 1014846"/>
                  <a:gd name="connsiteY5" fmla="*/ 1091939 h 2065189"/>
                  <a:gd name="connsiteX6" fmla="*/ 836802 w 1014846"/>
                  <a:gd name="connsiteY6" fmla="*/ 1204694 h 2065189"/>
                  <a:gd name="connsiteX7" fmla="*/ 694368 w 1014846"/>
                  <a:gd name="connsiteY7" fmla="*/ 1317448 h 2065189"/>
                  <a:gd name="connsiteX8" fmla="*/ 492586 w 1014846"/>
                  <a:gd name="connsiteY8" fmla="*/ 1442072 h 2065189"/>
                  <a:gd name="connsiteX9" fmla="*/ 296738 w 1014846"/>
                  <a:gd name="connsiteY9" fmla="*/ 1578564 h 2065189"/>
                  <a:gd name="connsiteX10" fmla="*/ 160238 w 1014846"/>
                  <a:gd name="connsiteY10" fmla="*/ 1685384 h 2065189"/>
                  <a:gd name="connsiteX11" fmla="*/ 83086 w 1014846"/>
                  <a:gd name="connsiteY11" fmla="*/ 1780336 h 2065189"/>
                  <a:gd name="connsiteX12" fmla="*/ 89021 w 1014846"/>
                  <a:gd name="connsiteY12" fmla="*/ 2065189 h 2065189"/>
                  <a:gd name="connsiteX13" fmla="*/ 801194 w 1014846"/>
                  <a:gd name="connsiteY13" fmla="*/ 2065189 h 2065189"/>
                  <a:gd name="connsiteX14" fmla="*/ 979237 w 1014846"/>
                  <a:gd name="connsiteY14" fmla="*/ 2035517 h 2065189"/>
                  <a:gd name="connsiteX15" fmla="*/ 1014846 w 1014846"/>
                  <a:gd name="connsiteY15" fmla="*/ 29673 h 2065189"/>
                  <a:gd name="connsiteX16" fmla="*/ 706237 w 1014846"/>
                  <a:gd name="connsiteY16" fmla="*/ 23738 h 20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846" h="2065189">
                    <a:moveTo>
                      <a:pt x="706237" y="23738"/>
                    </a:moveTo>
                    <a:lnTo>
                      <a:pt x="0" y="0"/>
                    </a:lnTo>
                    <a:lnTo>
                      <a:pt x="23739" y="480691"/>
                    </a:lnTo>
                    <a:lnTo>
                      <a:pt x="219586" y="676528"/>
                    </a:lnTo>
                    <a:lnTo>
                      <a:pt x="451042" y="890168"/>
                    </a:lnTo>
                    <a:lnTo>
                      <a:pt x="694368" y="1091939"/>
                    </a:lnTo>
                    <a:lnTo>
                      <a:pt x="836802" y="1204694"/>
                    </a:lnTo>
                    <a:lnTo>
                      <a:pt x="694368" y="1317448"/>
                    </a:lnTo>
                    <a:lnTo>
                      <a:pt x="492586" y="1442072"/>
                    </a:lnTo>
                    <a:lnTo>
                      <a:pt x="296738" y="1578564"/>
                    </a:lnTo>
                    <a:lnTo>
                      <a:pt x="160238" y="1685384"/>
                    </a:lnTo>
                    <a:lnTo>
                      <a:pt x="83086" y="1780336"/>
                    </a:lnTo>
                    <a:lnTo>
                      <a:pt x="89021" y="2065189"/>
                    </a:lnTo>
                    <a:lnTo>
                      <a:pt x="801194" y="2065189"/>
                    </a:lnTo>
                    <a:lnTo>
                      <a:pt x="979237" y="2035517"/>
                    </a:lnTo>
                    <a:lnTo>
                      <a:pt x="1014846" y="29673"/>
                    </a:lnTo>
                    <a:lnTo>
                      <a:pt x="706237" y="2373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</p:grpSp>
        <p:sp>
          <p:nvSpPr>
            <p:cNvPr id="18441" name="TextBox 21"/>
            <p:cNvSpPr txBox="1">
              <a:spLocks noChangeArrowheads="1"/>
            </p:cNvSpPr>
            <p:nvPr/>
          </p:nvSpPr>
          <p:spPr bwMode="auto">
            <a:xfrm>
              <a:off x="3505200" y="3352800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dirty="0"/>
                <a:t>Adapter!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896937"/>
          </a:xfrm>
        </p:spPr>
        <p:txBody>
          <a:bodyPr/>
          <a:lstStyle/>
          <a:p>
            <a:pPr eaLnBrk="1" hangingPunct="1"/>
            <a:r>
              <a:rPr lang="en-US" altLang="en-US" sz="4500" dirty="0"/>
              <a:t>An Adapter is… an Adapter!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dirty="0"/>
              <a:t>Just like a power adapter you might take with you when travelling abroad, the Adapter Pattern let’s us fit two existing systems together.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The Adapter class is the only new code. </a:t>
            </a:r>
          </a:p>
          <a:p>
            <a:pPr eaLnBrk="1" hangingPunct="1"/>
            <a:r>
              <a:rPr lang="en-US" altLang="en-US" dirty="0"/>
              <a:t>No code changes to the existing system or the vendor’s class</a:t>
            </a:r>
          </a:p>
        </p:txBody>
      </p:sp>
      <p:sp>
        <p:nvSpPr>
          <p:cNvPr id="4" name="Teardrop 3"/>
          <p:cNvSpPr/>
          <p:nvPr/>
        </p:nvSpPr>
        <p:spPr>
          <a:xfrm rot="2817519">
            <a:off x="978694" y="2955131"/>
            <a:ext cx="1862138" cy="1584325"/>
          </a:xfrm>
          <a:prstGeom prst="teardrop">
            <a:avLst>
              <a:gd name="adj" fmla="val 11421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1143000" y="3429000"/>
            <a:ext cx="2057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dirty="0"/>
              <a:t>My Existing System</a:t>
            </a:r>
          </a:p>
        </p:txBody>
      </p:sp>
      <p:grpSp>
        <p:nvGrpSpPr>
          <p:cNvPr id="19461" name="Group 13"/>
          <p:cNvGrpSpPr>
            <a:grpSpLocks/>
          </p:cNvGrpSpPr>
          <p:nvPr/>
        </p:nvGrpSpPr>
        <p:grpSpPr bwMode="auto">
          <a:xfrm>
            <a:off x="4572000" y="2819400"/>
            <a:ext cx="3124200" cy="1828800"/>
            <a:chOff x="4572000" y="2819400"/>
            <a:chExt cx="3124200" cy="1828800"/>
          </a:xfrm>
        </p:grpSpPr>
        <p:sp>
          <p:nvSpPr>
            <p:cNvPr id="7" name="Moon 6"/>
            <p:cNvSpPr/>
            <p:nvPr/>
          </p:nvSpPr>
          <p:spPr>
            <a:xfrm rot="10800000">
              <a:off x="4572000" y="2819400"/>
              <a:ext cx="3124200" cy="1828800"/>
            </a:xfrm>
            <a:prstGeom prst="moon">
              <a:avLst>
                <a:gd name="adj" fmla="val 69378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9468" name="TextBox 10"/>
            <p:cNvSpPr txBox="1">
              <a:spLocks noChangeArrowheads="1"/>
            </p:cNvSpPr>
            <p:nvPr/>
          </p:nvSpPr>
          <p:spPr bwMode="auto">
            <a:xfrm>
              <a:off x="5486400" y="3352800"/>
              <a:ext cx="2057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dirty="0"/>
                <a:t>Vendor’s Class</a:t>
              </a:r>
            </a:p>
          </p:txBody>
        </p:sp>
      </p:grpSp>
      <p:grpSp>
        <p:nvGrpSpPr>
          <p:cNvPr id="19462" name="Group 22"/>
          <p:cNvGrpSpPr>
            <a:grpSpLocks/>
          </p:cNvGrpSpPr>
          <p:nvPr/>
        </p:nvGrpSpPr>
        <p:grpSpPr bwMode="auto">
          <a:xfrm>
            <a:off x="2590800" y="2706688"/>
            <a:ext cx="2747963" cy="2035175"/>
            <a:chOff x="2590800" y="2706110"/>
            <a:chExt cx="2747392" cy="2036093"/>
          </a:xfrm>
        </p:grpSpPr>
        <p:grpSp>
          <p:nvGrpSpPr>
            <p:cNvPr id="19463" name="Group 20"/>
            <p:cNvGrpSpPr>
              <a:grpSpLocks/>
            </p:cNvGrpSpPr>
            <p:nvPr/>
          </p:nvGrpSpPr>
          <p:grpSpPr bwMode="auto">
            <a:xfrm>
              <a:off x="2590800" y="2706110"/>
              <a:ext cx="2747392" cy="2036093"/>
              <a:chOff x="2510409" y="2706110"/>
              <a:chExt cx="2747392" cy="2036093"/>
            </a:xfrm>
          </p:grpSpPr>
          <p:sp>
            <p:nvSpPr>
              <p:cNvPr id="17" name="Moon 16"/>
              <p:cNvSpPr/>
              <p:nvPr/>
            </p:nvSpPr>
            <p:spPr>
              <a:xfrm rot="10800000">
                <a:off x="3200829" y="2723580"/>
                <a:ext cx="2056972" cy="2012270"/>
              </a:xfrm>
              <a:prstGeom prst="moon">
                <a:avLst>
                  <a:gd name="adj" fmla="val 87500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510409" y="2706110"/>
                <a:ext cx="1014202" cy="2036093"/>
              </a:xfrm>
              <a:custGeom>
                <a:avLst/>
                <a:gdLst>
                  <a:gd name="connsiteX0" fmla="*/ 706237 w 1014846"/>
                  <a:gd name="connsiteY0" fmla="*/ 23738 h 2065189"/>
                  <a:gd name="connsiteX1" fmla="*/ 0 w 1014846"/>
                  <a:gd name="connsiteY1" fmla="*/ 0 h 2065189"/>
                  <a:gd name="connsiteX2" fmla="*/ 23739 w 1014846"/>
                  <a:gd name="connsiteY2" fmla="*/ 480691 h 2065189"/>
                  <a:gd name="connsiteX3" fmla="*/ 219586 w 1014846"/>
                  <a:gd name="connsiteY3" fmla="*/ 676528 h 2065189"/>
                  <a:gd name="connsiteX4" fmla="*/ 451042 w 1014846"/>
                  <a:gd name="connsiteY4" fmla="*/ 890168 h 2065189"/>
                  <a:gd name="connsiteX5" fmla="*/ 694368 w 1014846"/>
                  <a:gd name="connsiteY5" fmla="*/ 1091939 h 2065189"/>
                  <a:gd name="connsiteX6" fmla="*/ 836802 w 1014846"/>
                  <a:gd name="connsiteY6" fmla="*/ 1204694 h 2065189"/>
                  <a:gd name="connsiteX7" fmla="*/ 694368 w 1014846"/>
                  <a:gd name="connsiteY7" fmla="*/ 1317448 h 2065189"/>
                  <a:gd name="connsiteX8" fmla="*/ 492586 w 1014846"/>
                  <a:gd name="connsiteY8" fmla="*/ 1442072 h 2065189"/>
                  <a:gd name="connsiteX9" fmla="*/ 296738 w 1014846"/>
                  <a:gd name="connsiteY9" fmla="*/ 1578564 h 2065189"/>
                  <a:gd name="connsiteX10" fmla="*/ 160238 w 1014846"/>
                  <a:gd name="connsiteY10" fmla="*/ 1685384 h 2065189"/>
                  <a:gd name="connsiteX11" fmla="*/ 83086 w 1014846"/>
                  <a:gd name="connsiteY11" fmla="*/ 1780336 h 2065189"/>
                  <a:gd name="connsiteX12" fmla="*/ 89021 w 1014846"/>
                  <a:gd name="connsiteY12" fmla="*/ 2065189 h 2065189"/>
                  <a:gd name="connsiteX13" fmla="*/ 801194 w 1014846"/>
                  <a:gd name="connsiteY13" fmla="*/ 2065189 h 2065189"/>
                  <a:gd name="connsiteX14" fmla="*/ 979237 w 1014846"/>
                  <a:gd name="connsiteY14" fmla="*/ 2035517 h 2065189"/>
                  <a:gd name="connsiteX15" fmla="*/ 1014846 w 1014846"/>
                  <a:gd name="connsiteY15" fmla="*/ 29673 h 2065189"/>
                  <a:gd name="connsiteX16" fmla="*/ 706237 w 1014846"/>
                  <a:gd name="connsiteY16" fmla="*/ 23738 h 20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846" h="2065189">
                    <a:moveTo>
                      <a:pt x="706237" y="23738"/>
                    </a:moveTo>
                    <a:lnTo>
                      <a:pt x="0" y="0"/>
                    </a:lnTo>
                    <a:lnTo>
                      <a:pt x="23739" y="480691"/>
                    </a:lnTo>
                    <a:lnTo>
                      <a:pt x="219586" y="676528"/>
                    </a:lnTo>
                    <a:lnTo>
                      <a:pt x="451042" y="890168"/>
                    </a:lnTo>
                    <a:lnTo>
                      <a:pt x="694368" y="1091939"/>
                    </a:lnTo>
                    <a:lnTo>
                      <a:pt x="836802" y="1204694"/>
                    </a:lnTo>
                    <a:lnTo>
                      <a:pt x="694368" y="1317448"/>
                    </a:lnTo>
                    <a:lnTo>
                      <a:pt x="492586" y="1442072"/>
                    </a:lnTo>
                    <a:lnTo>
                      <a:pt x="296738" y="1578564"/>
                    </a:lnTo>
                    <a:lnTo>
                      <a:pt x="160238" y="1685384"/>
                    </a:lnTo>
                    <a:lnTo>
                      <a:pt x="83086" y="1780336"/>
                    </a:lnTo>
                    <a:lnTo>
                      <a:pt x="89021" y="2065189"/>
                    </a:lnTo>
                    <a:lnTo>
                      <a:pt x="801194" y="2065189"/>
                    </a:lnTo>
                    <a:lnTo>
                      <a:pt x="979237" y="2035517"/>
                    </a:lnTo>
                    <a:lnTo>
                      <a:pt x="1014846" y="29673"/>
                    </a:lnTo>
                    <a:lnTo>
                      <a:pt x="706237" y="2373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</p:grpSp>
        <p:sp>
          <p:nvSpPr>
            <p:cNvPr id="19464" name="TextBox 21"/>
            <p:cNvSpPr txBox="1">
              <a:spLocks noChangeArrowheads="1"/>
            </p:cNvSpPr>
            <p:nvPr/>
          </p:nvSpPr>
          <p:spPr bwMode="auto">
            <a:xfrm>
              <a:off x="3505200" y="3352800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dirty="0"/>
                <a:t>Adapter!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8E2C-9D71-0847-A5CB-EAF457B0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-154704"/>
            <a:ext cx="8147050" cy="1452562"/>
          </a:xfrm>
        </p:spPr>
        <p:txBody>
          <a:bodyPr/>
          <a:lstStyle/>
          <a:p>
            <a:r>
              <a:rPr lang="en-US" sz="4000" dirty="0"/>
              <a:t>Lab 6 Acceptance Tests and the Bazaar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55775-46DC-E443-A389-56667E8D1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" y="990600"/>
            <a:ext cx="8147050" cy="4364038"/>
          </a:xfrm>
        </p:spPr>
        <p:txBody>
          <a:bodyPr/>
          <a:lstStyle/>
          <a:p>
            <a:r>
              <a:rPr lang="en-US" sz="2000" dirty="0"/>
              <a:t>The completeness of the project is also measured by the test requirements.</a:t>
            </a:r>
          </a:p>
          <a:p>
            <a:r>
              <a:rPr lang="en-US" sz="2000" dirty="0"/>
              <a:t>I’ll randomize the testing order. Will let you know as a D2L announcement on Tuesday.</a:t>
            </a:r>
          </a:p>
          <a:p>
            <a:r>
              <a:rPr lang="en-US" sz="2000" dirty="0"/>
              <a:t>ALL members must present during the tests for the acceptance tests points. Unless excused by other members and the instructor</a:t>
            </a:r>
          </a:p>
          <a:p>
            <a:r>
              <a:rPr lang="en-US" sz="2000" dirty="0"/>
              <a:t>If you plan to sell your project,  by 8p WEDNESDAY by email with your sales rep availability.</a:t>
            </a:r>
          </a:p>
          <a:p>
            <a:r>
              <a:rPr lang="en-US" sz="2000" dirty="0"/>
              <a:t>If you want to ”buy” one, please let me know by Wednesday 8p with your buying rep availability.</a:t>
            </a:r>
          </a:p>
          <a:p>
            <a:r>
              <a:rPr lang="en-US" sz="2000" dirty="0"/>
              <a:t>I’ll arrange time and location for the bazaar based on the information. I encourage the buyers make the decisions AFTER you see every selling project, not just getting from acquaints.</a:t>
            </a:r>
          </a:p>
        </p:txBody>
      </p:sp>
    </p:spTree>
    <p:extLst>
      <p:ext uri="{BB962C8B-B14F-4D97-AF65-F5344CB8AC3E}">
        <p14:creationId xmlns:p14="http://schemas.microsoft.com/office/powerpoint/2010/main" val="207804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DF0F-B1F4-104E-A64E-CAED4CE1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64546-28A6-2045-8A76-7E0F3A655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form a new team ONLY IF you leave details on the team evaluation form or have emailed/talked to me. Or you are part of these details</a:t>
            </a:r>
          </a:p>
          <a:p>
            <a:r>
              <a:rPr lang="en-US" dirty="0"/>
              <a:t>2-4 people in lab 7</a:t>
            </a:r>
          </a:p>
          <a:p>
            <a:r>
              <a:rPr lang="en-US" dirty="0"/>
              <a:t>Please let me know by 8p WEDNESDAY by email. I’ll approve that only when I believe there are severe issues.</a:t>
            </a:r>
          </a:p>
        </p:txBody>
      </p:sp>
    </p:spTree>
    <p:extLst>
      <p:ext uri="{BB962C8B-B14F-4D97-AF65-F5344CB8AC3E}">
        <p14:creationId xmlns:p14="http://schemas.microsoft.com/office/powerpoint/2010/main" val="113485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50C7-D0E4-9E45-A9A1-F9073865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Adaptor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8DD8-8E88-B24A-8C5B-4A1B8DA1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an A but only has a B</a:t>
            </a:r>
          </a:p>
          <a:p>
            <a:r>
              <a:rPr lang="en-US" dirty="0"/>
              <a:t>Good news is that B is “similar” to A</a:t>
            </a:r>
          </a:p>
          <a:p>
            <a:r>
              <a:rPr lang="en-US" dirty="0"/>
              <a:t>We want to build an adapter to use a B as an A</a:t>
            </a:r>
          </a:p>
        </p:txBody>
      </p:sp>
    </p:spTree>
    <p:extLst>
      <p:ext uri="{BB962C8B-B14F-4D97-AF65-F5344CB8AC3E}">
        <p14:creationId xmlns:p14="http://schemas.microsoft.com/office/powerpoint/2010/main" val="219155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F3C2-2D3E-C24C-BDAB-B94EBE29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B as an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6681F-1CEC-4C43-969C-C0F21D49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Adaptor should</a:t>
            </a:r>
          </a:p>
          <a:p>
            <a:r>
              <a:rPr lang="en-US" dirty="0"/>
              <a:t>“Deceive” the compiler</a:t>
            </a:r>
          </a:p>
          <a:p>
            <a:pPr lvl="1"/>
            <a:r>
              <a:rPr lang="en-US" dirty="0"/>
              <a:t>The adapter needs to be an A</a:t>
            </a:r>
          </a:p>
          <a:p>
            <a:pPr lvl="1"/>
            <a:r>
              <a:rPr lang="en-US" dirty="0"/>
              <a:t>Make the Adapter a subclass of A</a:t>
            </a:r>
          </a:p>
          <a:p>
            <a:r>
              <a:rPr lang="en-US" dirty="0"/>
              <a:t>Behave like an A</a:t>
            </a:r>
          </a:p>
          <a:p>
            <a:pPr lvl="1"/>
            <a:r>
              <a:rPr lang="en-US" dirty="0"/>
              <a:t>Implement the A methods</a:t>
            </a:r>
          </a:p>
          <a:p>
            <a:pPr lvl="1"/>
            <a:r>
              <a:rPr lang="en-US" dirty="0"/>
              <a:t>Note that it is just an adapter. So it simply use a B to simulate an A</a:t>
            </a:r>
          </a:p>
          <a:p>
            <a:r>
              <a:rPr lang="en-US" dirty="0"/>
              <a:t>Contain a B as a field</a:t>
            </a:r>
          </a:p>
          <a:p>
            <a:pPr lvl="1"/>
            <a:r>
              <a:rPr lang="en-US" dirty="0"/>
              <a:t>Use the B as needed</a:t>
            </a:r>
          </a:p>
        </p:txBody>
      </p:sp>
    </p:spTree>
    <p:extLst>
      <p:ext uri="{BB962C8B-B14F-4D97-AF65-F5344CB8AC3E}">
        <p14:creationId xmlns:p14="http://schemas.microsoft.com/office/powerpoint/2010/main" val="241139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744537"/>
          </a:xfrm>
        </p:spPr>
        <p:txBody>
          <a:bodyPr/>
          <a:lstStyle/>
          <a:p>
            <a:pPr eaLnBrk="1" hangingPunct="1"/>
            <a:r>
              <a:rPr lang="en-US" altLang="en-US" dirty="0"/>
              <a:t>Book’s Example: Ducks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63880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public interface Duck {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public void quack();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public void fly();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}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endParaRPr lang="en-US" altLang="en-US" dirty="0">
              <a:latin typeface="Courier" charset="0"/>
            </a:endParaRP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public class </a:t>
            </a:r>
            <a:r>
              <a:rPr lang="en-US" altLang="en-US" dirty="0" err="1">
                <a:latin typeface="Courier" charset="0"/>
              </a:rPr>
              <a:t>MallardDuck</a:t>
            </a:r>
            <a:r>
              <a:rPr lang="en-US" altLang="en-US" dirty="0">
                <a:latin typeface="Courier" charset="0"/>
              </a:rPr>
              <a:t> implements Duck {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public void quack() {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	</a:t>
            </a:r>
            <a:r>
              <a:rPr lang="en-US" altLang="en-US" dirty="0" err="1">
                <a:latin typeface="Courier" charset="0"/>
              </a:rPr>
              <a:t>System.out.println</a:t>
            </a:r>
            <a:r>
              <a:rPr lang="en-US" altLang="en-US" dirty="0">
                <a:latin typeface="Courier" charset="0"/>
              </a:rPr>
              <a:t>("Quack");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}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 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public void fly() {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	</a:t>
            </a:r>
            <a:r>
              <a:rPr lang="en-US" altLang="en-US" dirty="0" err="1">
                <a:latin typeface="Courier" charset="0"/>
              </a:rPr>
              <a:t>System.out.println</a:t>
            </a:r>
            <a:r>
              <a:rPr lang="en-US" altLang="en-US" dirty="0">
                <a:latin typeface="Courier" charset="0"/>
              </a:rPr>
              <a:t>("I'm flying");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	}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r>
              <a:rPr lang="en-US" altLang="en-US" dirty="0">
                <a:latin typeface="Courier" charset="0"/>
              </a:rPr>
              <a:t>}</a:t>
            </a: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endParaRPr lang="en-US" altLang="en-US" dirty="0">
              <a:latin typeface="Courier" charset="0"/>
            </a:endParaRPr>
          </a:p>
          <a:p>
            <a:pPr marL="0" indent="0" eaLnBrk="1" hangingPunct="1">
              <a:spcBef>
                <a:spcPct val="0"/>
              </a:spcBef>
              <a:buFont typeface="Wingdings 2" charset="2"/>
              <a:buNone/>
            </a:pPr>
            <a:endParaRPr lang="en-US" altLang="en-US" dirty="0">
              <a:latin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125" y="234950"/>
            <a:ext cx="8956675" cy="6000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public interface Turkey {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public void gobble();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public void fly();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}</a:t>
            </a:r>
          </a:p>
          <a:p>
            <a:pPr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urier"/>
              <a:ea typeface="ＭＳ Ｐゴシック" charset="0"/>
              <a:cs typeface="Courier"/>
            </a:endParaRP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public class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WildTurkey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 implements Turkey {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public void gobble() {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	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System.out.println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("Gobble gobble");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}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 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public void fly() {</a:t>
            </a:r>
          </a:p>
          <a:p>
            <a:pPr marL="1825625" indent="-1825625"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	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System.out.println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("I'm flying a short distance");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	}</a:t>
            </a:r>
          </a:p>
          <a:p>
            <a:pPr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ＭＳ Ｐゴシック" charset="0"/>
                <a:cs typeface="Courier"/>
              </a:rPr>
              <a:t>}</a:t>
            </a:r>
          </a:p>
          <a:p>
            <a:pPr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urier"/>
              <a:ea typeface="ＭＳ Ｐゴシック" charset="0"/>
              <a:cs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3663"/>
            <a:ext cx="8839200" cy="14525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4500"/>
              <a:t>And then, there was this one time when we needed more Ducks…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62125"/>
            <a:ext cx="6096000" cy="4943475"/>
          </a:xfrm>
        </p:spPr>
        <p:txBody>
          <a:bodyPr rtlCol="0">
            <a:normAutofit fontScale="77500" lnSpcReduction="20000"/>
          </a:bodyPr>
          <a:lstStyle/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public class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TurkeyAdapter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implements Duck {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Turkey turkey;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public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TurkeyAdapter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(Turkey turkey) {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	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this.turkey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= turkey;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}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   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public void quack() {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	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turkey.gobble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();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}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 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public void fly() {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	for(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int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i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=0;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i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 &lt; 5; 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i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++) {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		</a:t>
            </a:r>
            <a:r>
              <a:rPr lang="en-US" err="1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turkey.fly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();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	}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	}</a:t>
            </a:r>
          </a:p>
          <a:p>
            <a:pPr mar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ea typeface="+mn-ea"/>
                <a:cs typeface="Courier"/>
              </a:rPr>
              <a:t>}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562600" y="4191000"/>
            <a:ext cx="358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Turkeys can fly, but only over short distances.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Adaptor Pattern Defined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98475" y="1761565"/>
            <a:ext cx="8147051" cy="1515035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None/>
              <a:defRPr/>
            </a:pPr>
            <a:r>
              <a:rPr lang="en-US"/>
              <a:t>The </a:t>
            </a:r>
            <a:r>
              <a:rPr lang="en-US" b="1" spc="20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4">
                    <a:lumMod val="40000"/>
                    <a:lumOff val="60000"/>
                    <a:alpha val="50000"/>
                  </a:schemeClr>
                </a:solidFill>
              </a:rPr>
              <a:t>Adaptor Pattern </a:t>
            </a:r>
            <a:r>
              <a:rPr lang="en-US"/>
              <a:t>converts the interface of a class into another interface the clients expect.  Adapter lets classes work together that couldn’t otherwise because of incompatible interfaces.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24C1-4FDF-F24D-A324-4CCB2020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DDEA-67A3-EE4B-AC4B-17604F968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Most patterns we covered this semester have a family of classes with the name of the pattern</a:t>
            </a:r>
          </a:p>
          <a:p>
            <a:pPr lvl="1"/>
            <a:r>
              <a:rPr lang="en-US"/>
              <a:t>E.g. Observer, visitor, </a:t>
            </a:r>
            <a:r>
              <a:rPr lang="en-US" err="1"/>
              <a:t>etc</a:t>
            </a:r>
            <a:endParaRPr lang="en-US"/>
          </a:p>
          <a:p>
            <a:r>
              <a:rPr lang="en-US"/>
              <a:t>Adaptor pattern does not have such a family. It consists of one class only</a:t>
            </a:r>
          </a:p>
        </p:txBody>
      </p:sp>
    </p:spTree>
    <p:extLst>
      <p:ext uri="{BB962C8B-B14F-4D97-AF65-F5344CB8AC3E}">
        <p14:creationId xmlns:p14="http://schemas.microsoft.com/office/powerpoint/2010/main" val="2887815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Adaptor Pattern </a:t>
            </a:r>
            <a:br>
              <a:rPr lang="en-US" altLang="en-US"/>
            </a:br>
            <a:r>
              <a:rPr lang="en-US" altLang="en-US"/>
              <a:t>(Book’s Diagram)</a:t>
            </a:r>
          </a:p>
        </p:txBody>
      </p:sp>
      <p:pic>
        <p:nvPicPr>
          <p:cNvPr id="27650" name="Picture 1" descr="Adapter Pattern (Book Version)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7" t="4314" b="72314"/>
          <a:stretch>
            <a:fillRect/>
          </a:stretch>
        </p:blipFill>
        <p:spPr bwMode="auto">
          <a:xfrm>
            <a:off x="381000" y="2057400"/>
            <a:ext cx="844708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Better Version</a:t>
            </a:r>
          </a:p>
        </p:txBody>
      </p:sp>
      <p:pic>
        <p:nvPicPr>
          <p:cNvPr id="29698" name="Content Placeholder 3" descr="Adapter Pattern (Better Version)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2" t="3412" r="2747" b="70880"/>
          <a:stretch>
            <a:fillRect/>
          </a:stretch>
        </p:blipFill>
        <p:spPr>
          <a:xfrm>
            <a:off x="381000" y="1676400"/>
            <a:ext cx="8575675" cy="37338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896937"/>
          </a:xfrm>
        </p:spPr>
        <p:txBody>
          <a:bodyPr/>
          <a:lstStyle/>
          <a:p>
            <a:pPr eaLnBrk="1" hangingPunct="1"/>
            <a:r>
              <a:rPr lang="en-US" altLang="en-US"/>
              <a:t>Scene</a:t>
            </a:r>
          </a:p>
        </p:txBody>
      </p:sp>
      <p:grpSp>
        <p:nvGrpSpPr>
          <p:cNvPr id="23554" name="Group 7"/>
          <p:cNvGrpSpPr>
            <a:grpSpLocks/>
          </p:cNvGrpSpPr>
          <p:nvPr/>
        </p:nvGrpSpPr>
        <p:grpSpPr bwMode="auto">
          <a:xfrm>
            <a:off x="381001" y="2816224"/>
            <a:ext cx="2158999" cy="1862138"/>
            <a:chOff x="1040755" y="2816900"/>
            <a:chExt cx="2159645" cy="1860811"/>
          </a:xfrm>
        </p:grpSpPr>
        <p:sp>
          <p:nvSpPr>
            <p:cNvPr id="4" name="Teardrop 3"/>
            <p:cNvSpPr/>
            <p:nvPr/>
          </p:nvSpPr>
          <p:spPr>
            <a:xfrm rot="2817519">
              <a:off x="902749" y="2954906"/>
              <a:ext cx="1860811" cy="1584799"/>
            </a:xfrm>
            <a:prstGeom prst="teardrop">
              <a:avLst>
                <a:gd name="adj" fmla="val 11421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3" name="TextBox 4"/>
            <p:cNvSpPr txBox="1">
              <a:spLocks noChangeArrowheads="1"/>
            </p:cNvSpPr>
            <p:nvPr/>
          </p:nvSpPr>
          <p:spPr bwMode="auto">
            <a:xfrm>
              <a:off x="1143000" y="3429000"/>
              <a:ext cx="2057400" cy="830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My Newer System</a:t>
              </a:r>
            </a:p>
          </p:txBody>
        </p:sp>
      </p:grpSp>
      <p:grpSp>
        <p:nvGrpSpPr>
          <p:cNvPr id="23555" name="Group 13"/>
          <p:cNvGrpSpPr>
            <a:grpSpLocks/>
          </p:cNvGrpSpPr>
          <p:nvPr/>
        </p:nvGrpSpPr>
        <p:grpSpPr bwMode="auto">
          <a:xfrm>
            <a:off x="5791200" y="2819400"/>
            <a:ext cx="3124200" cy="1828800"/>
            <a:chOff x="4572000" y="2819400"/>
            <a:chExt cx="3124200" cy="1828800"/>
          </a:xfrm>
        </p:grpSpPr>
        <p:sp>
          <p:nvSpPr>
            <p:cNvPr id="7" name="Moon 6"/>
            <p:cNvSpPr/>
            <p:nvPr/>
          </p:nvSpPr>
          <p:spPr>
            <a:xfrm rot="10800000">
              <a:off x="4572000" y="2819400"/>
              <a:ext cx="3124200" cy="1828800"/>
            </a:xfrm>
            <a:prstGeom prst="moon">
              <a:avLst>
                <a:gd name="adj" fmla="val 69378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1" name="TextBox 10"/>
            <p:cNvSpPr txBox="1">
              <a:spLocks noChangeArrowheads="1"/>
            </p:cNvSpPr>
            <p:nvPr/>
          </p:nvSpPr>
          <p:spPr bwMode="auto">
            <a:xfrm>
              <a:off x="5486400" y="3352800"/>
              <a:ext cx="2057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Existing System</a:t>
              </a:r>
            </a:p>
          </p:txBody>
        </p:sp>
      </p:grpSp>
      <p:grpSp>
        <p:nvGrpSpPr>
          <p:cNvPr id="23556" name="Group 22"/>
          <p:cNvGrpSpPr>
            <a:grpSpLocks/>
          </p:cNvGrpSpPr>
          <p:nvPr/>
        </p:nvGrpSpPr>
        <p:grpSpPr bwMode="auto">
          <a:xfrm>
            <a:off x="2967038" y="2706688"/>
            <a:ext cx="2747962" cy="2035175"/>
            <a:chOff x="2590800" y="2706110"/>
            <a:chExt cx="2747392" cy="2036093"/>
          </a:xfrm>
        </p:grpSpPr>
        <p:grpSp>
          <p:nvGrpSpPr>
            <p:cNvPr id="23566" name="Group 20"/>
            <p:cNvGrpSpPr>
              <a:grpSpLocks/>
            </p:cNvGrpSpPr>
            <p:nvPr/>
          </p:nvGrpSpPr>
          <p:grpSpPr bwMode="auto">
            <a:xfrm>
              <a:off x="2590800" y="2706110"/>
              <a:ext cx="2747392" cy="2036093"/>
              <a:chOff x="2510409" y="2706110"/>
              <a:chExt cx="2747392" cy="2036093"/>
            </a:xfrm>
          </p:grpSpPr>
          <p:sp>
            <p:nvSpPr>
              <p:cNvPr id="17" name="Moon 16"/>
              <p:cNvSpPr/>
              <p:nvPr/>
            </p:nvSpPr>
            <p:spPr>
              <a:xfrm rot="10800000">
                <a:off x="3200828" y="2723580"/>
                <a:ext cx="2056973" cy="2012270"/>
              </a:xfrm>
              <a:prstGeom prst="moon">
                <a:avLst>
                  <a:gd name="adj" fmla="val 87500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510409" y="2706110"/>
                <a:ext cx="1014202" cy="2036093"/>
              </a:xfrm>
              <a:custGeom>
                <a:avLst/>
                <a:gdLst>
                  <a:gd name="connsiteX0" fmla="*/ 706237 w 1014846"/>
                  <a:gd name="connsiteY0" fmla="*/ 23738 h 2065189"/>
                  <a:gd name="connsiteX1" fmla="*/ 0 w 1014846"/>
                  <a:gd name="connsiteY1" fmla="*/ 0 h 2065189"/>
                  <a:gd name="connsiteX2" fmla="*/ 23739 w 1014846"/>
                  <a:gd name="connsiteY2" fmla="*/ 480691 h 2065189"/>
                  <a:gd name="connsiteX3" fmla="*/ 219586 w 1014846"/>
                  <a:gd name="connsiteY3" fmla="*/ 676528 h 2065189"/>
                  <a:gd name="connsiteX4" fmla="*/ 451042 w 1014846"/>
                  <a:gd name="connsiteY4" fmla="*/ 890168 h 2065189"/>
                  <a:gd name="connsiteX5" fmla="*/ 694368 w 1014846"/>
                  <a:gd name="connsiteY5" fmla="*/ 1091939 h 2065189"/>
                  <a:gd name="connsiteX6" fmla="*/ 836802 w 1014846"/>
                  <a:gd name="connsiteY6" fmla="*/ 1204694 h 2065189"/>
                  <a:gd name="connsiteX7" fmla="*/ 694368 w 1014846"/>
                  <a:gd name="connsiteY7" fmla="*/ 1317448 h 2065189"/>
                  <a:gd name="connsiteX8" fmla="*/ 492586 w 1014846"/>
                  <a:gd name="connsiteY8" fmla="*/ 1442072 h 2065189"/>
                  <a:gd name="connsiteX9" fmla="*/ 296738 w 1014846"/>
                  <a:gd name="connsiteY9" fmla="*/ 1578564 h 2065189"/>
                  <a:gd name="connsiteX10" fmla="*/ 160238 w 1014846"/>
                  <a:gd name="connsiteY10" fmla="*/ 1685384 h 2065189"/>
                  <a:gd name="connsiteX11" fmla="*/ 83086 w 1014846"/>
                  <a:gd name="connsiteY11" fmla="*/ 1780336 h 2065189"/>
                  <a:gd name="connsiteX12" fmla="*/ 89021 w 1014846"/>
                  <a:gd name="connsiteY12" fmla="*/ 2065189 h 2065189"/>
                  <a:gd name="connsiteX13" fmla="*/ 801194 w 1014846"/>
                  <a:gd name="connsiteY13" fmla="*/ 2065189 h 2065189"/>
                  <a:gd name="connsiteX14" fmla="*/ 979237 w 1014846"/>
                  <a:gd name="connsiteY14" fmla="*/ 2035517 h 2065189"/>
                  <a:gd name="connsiteX15" fmla="*/ 1014846 w 1014846"/>
                  <a:gd name="connsiteY15" fmla="*/ 29673 h 2065189"/>
                  <a:gd name="connsiteX16" fmla="*/ 706237 w 1014846"/>
                  <a:gd name="connsiteY16" fmla="*/ 23738 h 20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846" h="2065189">
                    <a:moveTo>
                      <a:pt x="706237" y="23738"/>
                    </a:moveTo>
                    <a:lnTo>
                      <a:pt x="0" y="0"/>
                    </a:lnTo>
                    <a:lnTo>
                      <a:pt x="23739" y="480691"/>
                    </a:lnTo>
                    <a:lnTo>
                      <a:pt x="219586" y="676528"/>
                    </a:lnTo>
                    <a:lnTo>
                      <a:pt x="451042" y="890168"/>
                    </a:lnTo>
                    <a:lnTo>
                      <a:pt x="694368" y="1091939"/>
                    </a:lnTo>
                    <a:lnTo>
                      <a:pt x="836802" y="1204694"/>
                    </a:lnTo>
                    <a:lnTo>
                      <a:pt x="694368" y="1317448"/>
                    </a:lnTo>
                    <a:lnTo>
                      <a:pt x="492586" y="1442072"/>
                    </a:lnTo>
                    <a:lnTo>
                      <a:pt x="296738" y="1578564"/>
                    </a:lnTo>
                    <a:lnTo>
                      <a:pt x="160238" y="1685384"/>
                    </a:lnTo>
                    <a:lnTo>
                      <a:pt x="83086" y="1780336"/>
                    </a:lnTo>
                    <a:lnTo>
                      <a:pt x="89021" y="2065189"/>
                    </a:lnTo>
                    <a:lnTo>
                      <a:pt x="801194" y="2065189"/>
                    </a:lnTo>
                    <a:lnTo>
                      <a:pt x="979237" y="2035517"/>
                    </a:lnTo>
                    <a:lnTo>
                      <a:pt x="1014846" y="29673"/>
                    </a:lnTo>
                    <a:lnTo>
                      <a:pt x="706237" y="2373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23567" name="TextBox 21"/>
            <p:cNvSpPr txBox="1">
              <a:spLocks noChangeArrowheads="1"/>
            </p:cNvSpPr>
            <p:nvPr/>
          </p:nvSpPr>
          <p:spPr bwMode="auto">
            <a:xfrm>
              <a:off x="3505200" y="3352800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Adapter!</a:t>
              </a:r>
            </a:p>
          </p:txBody>
        </p:sp>
      </p:grpSp>
      <p:sp>
        <p:nvSpPr>
          <p:cNvPr id="23557" name="TextBox 8"/>
          <p:cNvSpPr txBox="1">
            <a:spLocks noChangeArrowheads="1"/>
          </p:cNvSpPr>
          <p:nvPr/>
        </p:nvSpPr>
        <p:spPr bwMode="auto">
          <a:xfrm>
            <a:off x="304800" y="2209800"/>
            <a:ext cx="1595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The Client</a:t>
            </a:r>
          </a:p>
        </p:txBody>
      </p:sp>
      <p:sp>
        <p:nvSpPr>
          <p:cNvPr id="23558" name="TextBox 17"/>
          <p:cNvSpPr txBox="1">
            <a:spLocks noChangeArrowheads="1"/>
          </p:cNvSpPr>
          <p:nvPr/>
        </p:nvSpPr>
        <p:spPr bwMode="auto">
          <a:xfrm>
            <a:off x="2895600" y="2209800"/>
            <a:ext cx="186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The Adapter</a:t>
            </a:r>
          </a:p>
        </p:txBody>
      </p:sp>
      <p:sp>
        <p:nvSpPr>
          <p:cNvPr id="23559" name="TextBox 18"/>
          <p:cNvSpPr txBox="1">
            <a:spLocks noChangeArrowheads="1"/>
          </p:cNvSpPr>
          <p:nvPr/>
        </p:nvSpPr>
        <p:spPr bwMode="auto">
          <a:xfrm>
            <a:off x="6248400" y="2209800"/>
            <a:ext cx="1930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The Adaptee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143000" y="3800475"/>
            <a:ext cx="1873250" cy="1843088"/>
            <a:chOff x="1143000" y="3800552"/>
            <a:chExt cx="1873831" cy="1842713"/>
          </a:xfrm>
        </p:grpSpPr>
        <p:sp>
          <p:nvSpPr>
            <p:cNvPr id="10" name="Circular Arrow 9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5" name="TextBox 11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18469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request()</a:t>
              </a:r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4648200" y="3810000"/>
            <a:ext cx="3694113" cy="1843088"/>
            <a:chOff x="1143000" y="3800552"/>
            <a:chExt cx="3693890" cy="1842713"/>
          </a:xfrm>
        </p:grpSpPr>
        <p:sp>
          <p:nvSpPr>
            <p:cNvPr id="25" name="Circular Arrow 24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3" name="TextBox 25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3693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translatedRequest()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F3A0AD-0002-514B-B959-9C3DE50032E1}"/>
              </a:ext>
            </a:extLst>
          </p:cNvPr>
          <p:cNvSpPr txBox="1"/>
          <p:nvPr/>
        </p:nvSpPr>
        <p:spPr>
          <a:xfrm>
            <a:off x="1929346" y="5968958"/>
            <a:ext cx="5437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Note this is the only new code to write.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D2C3C2-8C4D-7A44-80FC-D6CADB94A8B3}"/>
              </a:ext>
            </a:extLst>
          </p:cNvPr>
          <p:cNvCxnSpPr>
            <a:stCxn id="2" idx="0"/>
            <a:endCxn id="20" idx="14"/>
          </p:cNvCxnSpPr>
          <p:nvPr/>
        </p:nvCxnSpPr>
        <p:spPr>
          <a:xfrm flipH="1" flipV="1">
            <a:off x="3945856" y="4712622"/>
            <a:ext cx="702344" cy="1256336"/>
          </a:xfrm>
          <a:prstGeom prst="straightConnector1">
            <a:avLst/>
          </a:prstGeom>
          <a:ln w="57150" cmpd="sng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896937"/>
          </a:xfrm>
        </p:spPr>
        <p:txBody>
          <a:bodyPr/>
          <a:lstStyle/>
          <a:p>
            <a:pPr eaLnBrk="1" hangingPunct="1"/>
            <a:r>
              <a:rPr lang="en-US" altLang="en-US"/>
              <a:t>Scene</a:t>
            </a:r>
          </a:p>
        </p:txBody>
      </p:sp>
      <p:grpSp>
        <p:nvGrpSpPr>
          <p:cNvPr id="23554" name="Group 7"/>
          <p:cNvGrpSpPr>
            <a:grpSpLocks/>
          </p:cNvGrpSpPr>
          <p:nvPr/>
        </p:nvGrpSpPr>
        <p:grpSpPr bwMode="auto">
          <a:xfrm>
            <a:off x="381001" y="2816224"/>
            <a:ext cx="2158999" cy="1862138"/>
            <a:chOff x="1040755" y="2816900"/>
            <a:chExt cx="2159645" cy="1860811"/>
          </a:xfrm>
        </p:grpSpPr>
        <p:sp>
          <p:nvSpPr>
            <p:cNvPr id="4" name="Teardrop 3"/>
            <p:cNvSpPr/>
            <p:nvPr/>
          </p:nvSpPr>
          <p:spPr>
            <a:xfrm rot="2817519">
              <a:off x="902749" y="2954906"/>
              <a:ext cx="1860811" cy="1584799"/>
            </a:xfrm>
            <a:prstGeom prst="teardrop">
              <a:avLst>
                <a:gd name="adj" fmla="val 11421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3" name="TextBox 4"/>
            <p:cNvSpPr txBox="1">
              <a:spLocks noChangeArrowheads="1"/>
            </p:cNvSpPr>
            <p:nvPr/>
          </p:nvSpPr>
          <p:spPr bwMode="auto">
            <a:xfrm>
              <a:off x="1143000" y="3429000"/>
              <a:ext cx="2057400" cy="830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Expects</a:t>
              </a:r>
            </a:p>
            <a:p>
              <a:r>
                <a:rPr lang="en-US" altLang="en-US"/>
                <a:t>Iterator</a:t>
              </a:r>
            </a:p>
          </p:txBody>
        </p:sp>
      </p:grpSp>
      <p:grpSp>
        <p:nvGrpSpPr>
          <p:cNvPr id="23555" name="Group 13"/>
          <p:cNvGrpSpPr>
            <a:grpSpLocks/>
          </p:cNvGrpSpPr>
          <p:nvPr/>
        </p:nvGrpSpPr>
        <p:grpSpPr bwMode="auto">
          <a:xfrm>
            <a:off x="5791200" y="2819400"/>
            <a:ext cx="3124200" cy="1828800"/>
            <a:chOff x="4572000" y="2819400"/>
            <a:chExt cx="3124200" cy="1828800"/>
          </a:xfrm>
        </p:grpSpPr>
        <p:sp>
          <p:nvSpPr>
            <p:cNvPr id="7" name="Moon 6"/>
            <p:cNvSpPr/>
            <p:nvPr/>
          </p:nvSpPr>
          <p:spPr>
            <a:xfrm rot="10800000">
              <a:off x="4572000" y="2819400"/>
              <a:ext cx="3124200" cy="1828800"/>
            </a:xfrm>
            <a:prstGeom prst="moon">
              <a:avLst>
                <a:gd name="adj" fmla="val 69378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1" name="TextBox 10"/>
            <p:cNvSpPr txBox="1">
              <a:spLocks noChangeArrowheads="1"/>
            </p:cNvSpPr>
            <p:nvPr/>
          </p:nvSpPr>
          <p:spPr bwMode="auto">
            <a:xfrm>
              <a:off x="5497628" y="3353086"/>
              <a:ext cx="2057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Returns</a:t>
              </a:r>
            </a:p>
            <a:p>
              <a:r>
                <a:rPr lang="en-US" altLang="en-US"/>
                <a:t>Enumeration</a:t>
              </a:r>
            </a:p>
          </p:txBody>
        </p:sp>
      </p:grpSp>
      <p:grpSp>
        <p:nvGrpSpPr>
          <p:cNvPr id="23556" name="Group 22"/>
          <p:cNvGrpSpPr>
            <a:grpSpLocks/>
          </p:cNvGrpSpPr>
          <p:nvPr/>
        </p:nvGrpSpPr>
        <p:grpSpPr bwMode="auto">
          <a:xfrm>
            <a:off x="2967038" y="2706688"/>
            <a:ext cx="2747962" cy="2035175"/>
            <a:chOff x="2590800" y="2706110"/>
            <a:chExt cx="2747392" cy="2036093"/>
          </a:xfrm>
        </p:grpSpPr>
        <p:grpSp>
          <p:nvGrpSpPr>
            <p:cNvPr id="23566" name="Group 20"/>
            <p:cNvGrpSpPr>
              <a:grpSpLocks/>
            </p:cNvGrpSpPr>
            <p:nvPr/>
          </p:nvGrpSpPr>
          <p:grpSpPr bwMode="auto">
            <a:xfrm>
              <a:off x="2590800" y="2706110"/>
              <a:ext cx="2747392" cy="2036093"/>
              <a:chOff x="2510409" y="2706110"/>
              <a:chExt cx="2747392" cy="2036093"/>
            </a:xfrm>
          </p:grpSpPr>
          <p:sp>
            <p:nvSpPr>
              <p:cNvPr id="17" name="Moon 16"/>
              <p:cNvSpPr/>
              <p:nvPr/>
            </p:nvSpPr>
            <p:spPr>
              <a:xfrm rot="10800000">
                <a:off x="3200828" y="2723580"/>
                <a:ext cx="2056973" cy="2012270"/>
              </a:xfrm>
              <a:prstGeom prst="moon">
                <a:avLst>
                  <a:gd name="adj" fmla="val 87500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510409" y="2706110"/>
                <a:ext cx="1014202" cy="2036093"/>
              </a:xfrm>
              <a:custGeom>
                <a:avLst/>
                <a:gdLst>
                  <a:gd name="connsiteX0" fmla="*/ 706237 w 1014846"/>
                  <a:gd name="connsiteY0" fmla="*/ 23738 h 2065189"/>
                  <a:gd name="connsiteX1" fmla="*/ 0 w 1014846"/>
                  <a:gd name="connsiteY1" fmla="*/ 0 h 2065189"/>
                  <a:gd name="connsiteX2" fmla="*/ 23739 w 1014846"/>
                  <a:gd name="connsiteY2" fmla="*/ 480691 h 2065189"/>
                  <a:gd name="connsiteX3" fmla="*/ 219586 w 1014846"/>
                  <a:gd name="connsiteY3" fmla="*/ 676528 h 2065189"/>
                  <a:gd name="connsiteX4" fmla="*/ 451042 w 1014846"/>
                  <a:gd name="connsiteY4" fmla="*/ 890168 h 2065189"/>
                  <a:gd name="connsiteX5" fmla="*/ 694368 w 1014846"/>
                  <a:gd name="connsiteY5" fmla="*/ 1091939 h 2065189"/>
                  <a:gd name="connsiteX6" fmla="*/ 836802 w 1014846"/>
                  <a:gd name="connsiteY6" fmla="*/ 1204694 h 2065189"/>
                  <a:gd name="connsiteX7" fmla="*/ 694368 w 1014846"/>
                  <a:gd name="connsiteY7" fmla="*/ 1317448 h 2065189"/>
                  <a:gd name="connsiteX8" fmla="*/ 492586 w 1014846"/>
                  <a:gd name="connsiteY8" fmla="*/ 1442072 h 2065189"/>
                  <a:gd name="connsiteX9" fmla="*/ 296738 w 1014846"/>
                  <a:gd name="connsiteY9" fmla="*/ 1578564 h 2065189"/>
                  <a:gd name="connsiteX10" fmla="*/ 160238 w 1014846"/>
                  <a:gd name="connsiteY10" fmla="*/ 1685384 h 2065189"/>
                  <a:gd name="connsiteX11" fmla="*/ 83086 w 1014846"/>
                  <a:gd name="connsiteY11" fmla="*/ 1780336 h 2065189"/>
                  <a:gd name="connsiteX12" fmla="*/ 89021 w 1014846"/>
                  <a:gd name="connsiteY12" fmla="*/ 2065189 h 2065189"/>
                  <a:gd name="connsiteX13" fmla="*/ 801194 w 1014846"/>
                  <a:gd name="connsiteY13" fmla="*/ 2065189 h 2065189"/>
                  <a:gd name="connsiteX14" fmla="*/ 979237 w 1014846"/>
                  <a:gd name="connsiteY14" fmla="*/ 2035517 h 2065189"/>
                  <a:gd name="connsiteX15" fmla="*/ 1014846 w 1014846"/>
                  <a:gd name="connsiteY15" fmla="*/ 29673 h 2065189"/>
                  <a:gd name="connsiteX16" fmla="*/ 706237 w 1014846"/>
                  <a:gd name="connsiteY16" fmla="*/ 23738 h 20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846" h="2065189">
                    <a:moveTo>
                      <a:pt x="706237" y="23738"/>
                    </a:moveTo>
                    <a:lnTo>
                      <a:pt x="0" y="0"/>
                    </a:lnTo>
                    <a:lnTo>
                      <a:pt x="23739" y="480691"/>
                    </a:lnTo>
                    <a:lnTo>
                      <a:pt x="219586" y="676528"/>
                    </a:lnTo>
                    <a:lnTo>
                      <a:pt x="451042" y="890168"/>
                    </a:lnTo>
                    <a:lnTo>
                      <a:pt x="694368" y="1091939"/>
                    </a:lnTo>
                    <a:lnTo>
                      <a:pt x="836802" y="1204694"/>
                    </a:lnTo>
                    <a:lnTo>
                      <a:pt x="694368" y="1317448"/>
                    </a:lnTo>
                    <a:lnTo>
                      <a:pt x="492586" y="1442072"/>
                    </a:lnTo>
                    <a:lnTo>
                      <a:pt x="296738" y="1578564"/>
                    </a:lnTo>
                    <a:lnTo>
                      <a:pt x="160238" y="1685384"/>
                    </a:lnTo>
                    <a:lnTo>
                      <a:pt x="83086" y="1780336"/>
                    </a:lnTo>
                    <a:lnTo>
                      <a:pt x="89021" y="2065189"/>
                    </a:lnTo>
                    <a:lnTo>
                      <a:pt x="801194" y="2065189"/>
                    </a:lnTo>
                    <a:lnTo>
                      <a:pt x="979237" y="2035517"/>
                    </a:lnTo>
                    <a:lnTo>
                      <a:pt x="1014846" y="29673"/>
                    </a:lnTo>
                    <a:lnTo>
                      <a:pt x="706237" y="2373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23567" name="TextBox 21"/>
            <p:cNvSpPr txBox="1">
              <a:spLocks noChangeArrowheads="1"/>
            </p:cNvSpPr>
            <p:nvPr/>
          </p:nvSpPr>
          <p:spPr bwMode="auto">
            <a:xfrm>
              <a:off x="3505200" y="3352800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Adapter!</a:t>
              </a:r>
            </a:p>
          </p:txBody>
        </p:sp>
      </p:grpSp>
      <p:sp>
        <p:nvSpPr>
          <p:cNvPr id="23557" name="TextBox 8"/>
          <p:cNvSpPr txBox="1">
            <a:spLocks noChangeArrowheads="1"/>
          </p:cNvSpPr>
          <p:nvPr/>
        </p:nvSpPr>
        <p:spPr bwMode="auto">
          <a:xfrm>
            <a:off x="304800" y="2209800"/>
            <a:ext cx="11608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Newer </a:t>
            </a:r>
          </a:p>
        </p:txBody>
      </p:sp>
      <p:sp>
        <p:nvSpPr>
          <p:cNvPr id="23558" name="TextBox 17"/>
          <p:cNvSpPr txBox="1">
            <a:spLocks noChangeArrowheads="1"/>
          </p:cNvSpPr>
          <p:nvPr/>
        </p:nvSpPr>
        <p:spPr bwMode="auto">
          <a:xfrm>
            <a:off x="2895600" y="2209800"/>
            <a:ext cx="186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The Adapter</a:t>
            </a:r>
          </a:p>
        </p:txBody>
      </p:sp>
      <p:sp>
        <p:nvSpPr>
          <p:cNvPr id="23559" name="TextBox 18"/>
          <p:cNvSpPr txBox="1">
            <a:spLocks noChangeArrowheads="1"/>
          </p:cNvSpPr>
          <p:nvPr/>
        </p:nvSpPr>
        <p:spPr bwMode="auto">
          <a:xfrm>
            <a:off x="6248400" y="2209800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Older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143000" y="3800475"/>
            <a:ext cx="1873250" cy="1843088"/>
            <a:chOff x="1143000" y="3800552"/>
            <a:chExt cx="1873831" cy="1842713"/>
          </a:xfrm>
        </p:grpSpPr>
        <p:sp>
          <p:nvSpPr>
            <p:cNvPr id="10" name="Circular Arrow 9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5" name="TextBox 11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18469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request()</a:t>
              </a:r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4648200" y="3810000"/>
            <a:ext cx="3694113" cy="1843088"/>
            <a:chOff x="1143000" y="3800552"/>
            <a:chExt cx="3693890" cy="1842713"/>
          </a:xfrm>
        </p:grpSpPr>
        <p:sp>
          <p:nvSpPr>
            <p:cNvPr id="25" name="Circular Arrow 24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3" name="TextBox 25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3693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translatedRequest()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868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Scene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Early Java had Enumeration that let you walk through the elements of a collection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Enumeration Interface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hasMoreElements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()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nextElement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()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Later, Java created Iterators that are like Enumerations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Iterator Interface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000" err="1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hasNext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()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next()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Font typeface="Wingdings 2" pitchFamily="18" charset="2"/>
              <a:buChar char=""/>
              <a:defRPr/>
            </a:pP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ea typeface="+mn-ea"/>
              </a:rPr>
              <a:t>remove()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498475" y="93663"/>
            <a:ext cx="8147050" cy="896937"/>
          </a:xfrm>
        </p:spPr>
        <p:txBody>
          <a:bodyPr/>
          <a:lstStyle/>
          <a:p>
            <a:pPr eaLnBrk="1" hangingPunct="1"/>
            <a:r>
              <a:rPr lang="en-US" altLang="en-US"/>
              <a:t>Scene</a:t>
            </a:r>
          </a:p>
        </p:txBody>
      </p:sp>
      <p:grpSp>
        <p:nvGrpSpPr>
          <p:cNvPr id="23554" name="Group 7"/>
          <p:cNvGrpSpPr>
            <a:grpSpLocks/>
          </p:cNvGrpSpPr>
          <p:nvPr/>
        </p:nvGrpSpPr>
        <p:grpSpPr bwMode="auto">
          <a:xfrm>
            <a:off x="381001" y="2816224"/>
            <a:ext cx="2158999" cy="1862138"/>
            <a:chOff x="1040755" y="2816900"/>
            <a:chExt cx="2159645" cy="1860811"/>
          </a:xfrm>
        </p:grpSpPr>
        <p:sp>
          <p:nvSpPr>
            <p:cNvPr id="4" name="Teardrop 3"/>
            <p:cNvSpPr/>
            <p:nvPr/>
          </p:nvSpPr>
          <p:spPr>
            <a:xfrm rot="2817519">
              <a:off x="902749" y="2954906"/>
              <a:ext cx="1860811" cy="1584799"/>
            </a:xfrm>
            <a:prstGeom prst="teardrop">
              <a:avLst>
                <a:gd name="adj" fmla="val 114217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3" name="TextBox 4"/>
            <p:cNvSpPr txBox="1">
              <a:spLocks noChangeArrowheads="1"/>
            </p:cNvSpPr>
            <p:nvPr/>
          </p:nvSpPr>
          <p:spPr bwMode="auto">
            <a:xfrm>
              <a:off x="1143000" y="3429000"/>
              <a:ext cx="2057400" cy="830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Expects</a:t>
              </a:r>
            </a:p>
            <a:p>
              <a:r>
                <a:rPr lang="en-US" altLang="en-US"/>
                <a:t>Iterator</a:t>
              </a:r>
            </a:p>
          </p:txBody>
        </p:sp>
      </p:grpSp>
      <p:grpSp>
        <p:nvGrpSpPr>
          <p:cNvPr id="23555" name="Group 13"/>
          <p:cNvGrpSpPr>
            <a:grpSpLocks/>
          </p:cNvGrpSpPr>
          <p:nvPr/>
        </p:nvGrpSpPr>
        <p:grpSpPr bwMode="auto">
          <a:xfrm>
            <a:off x="5791200" y="2819400"/>
            <a:ext cx="3124200" cy="1828800"/>
            <a:chOff x="4572000" y="2819400"/>
            <a:chExt cx="3124200" cy="1828800"/>
          </a:xfrm>
        </p:grpSpPr>
        <p:sp>
          <p:nvSpPr>
            <p:cNvPr id="7" name="Moon 6"/>
            <p:cNvSpPr/>
            <p:nvPr/>
          </p:nvSpPr>
          <p:spPr>
            <a:xfrm rot="10800000">
              <a:off x="4572000" y="2819400"/>
              <a:ext cx="3124200" cy="1828800"/>
            </a:xfrm>
            <a:prstGeom prst="moon">
              <a:avLst>
                <a:gd name="adj" fmla="val 69378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71" name="TextBox 10"/>
            <p:cNvSpPr txBox="1">
              <a:spLocks noChangeArrowheads="1"/>
            </p:cNvSpPr>
            <p:nvPr/>
          </p:nvSpPr>
          <p:spPr bwMode="auto">
            <a:xfrm>
              <a:off x="5497628" y="3353086"/>
              <a:ext cx="2057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Returns</a:t>
              </a:r>
            </a:p>
            <a:p>
              <a:r>
                <a:rPr lang="en-US" altLang="en-US"/>
                <a:t>Enumeration</a:t>
              </a:r>
            </a:p>
          </p:txBody>
        </p:sp>
      </p:grpSp>
      <p:grpSp>
        <p:nvGrpSpPr>
          <p:cNvPr id="23556" name="Group 22"/>
          <p:cNvGrpSpPr>
            <a:grpSpLocks/>
          </p:cNvGrpSpPr>
          <p:nvPr/>
        </p:nvGrpSpPr>
        <p:grpSpPr bwMode="auto">
          <a:xfrm>
            <a:off x="2967038" y="2706688"/>
            <a:ext cx="2747962" cy="2035175"/>
            <a:chOff x="2590800" y="2706110"/>
            <a:chExt cx="2747392" cy="2036093"/>
          </a:xfrm>
        </p:grpSpPr>
        <p:grpSp>
          <p:nvGrpSpPr>
            <p:cNvPr id="23566" name="Group 20"/>
            <p:cNvGrpSpPr>
              <a:grpSpLocks/>
            </p:cNvGrpSpPr>
            <p:nvPr/>
          </p:nvGrpSpPr>
          <p:grpSpPr bwMode="auto">
            <a:xfrm>
              <a:off x="2590800" y="2706110"/>
              <a:ext cx="2747392" cy="2036093"/>
              <a:chOff x="2510409" y="2706110"/>
              <a:chExt cx="2747392" cy="2036093"/>
            </a:xfrm>
          </p:grpSpPr>
          <p:sp>
            <p:nvSpPr>
              <p:cNvPr id="17" name="Moon 16"/>
              <p:cNvSpPr/>
              <p:nvPr/>
            </p:nvSpPr>
            <p:spPr>
              <a:xfrm rot="10800000">
                <a:off x="3200828" y="2723580"/>
                <a:ext cx="2056973" cy="2012270"/>
              </a:xfrm>
              <a:prstGeom prst="moon">
                <a:avLst>
                  <a:gd name="adj" fmla="val 87500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2510409" y="2706110"/>
                <a:ext cx="1014202" cy="2036093"/>
              </a:xfrm>
              <a:custGeom>
                <a:avLst/>
                <a:gdLst>
                  <a:gd name="connsiteX0" fmla="*/ 706237 w 1014846"/>
                  <a:gd name="connsiteY0" fmla="*/ 23738 h 2065189"/>
                  <a:gd name="connsiteX1" fmla="*/ 0 w 1014846"/>
                  <a:gd name="connsiteY1" fmla="*/ 0 h 2065189"/>
                  <a:gd name="connsiteX2" fmla="*/ 23739 w 1014846"/>
                  <a:gd name="connsiteY2" fmla="*/ 480691 h 2065189"/>
                  <a:gd name="connsiteX3" fmla="*/ 219586 w 1014846"/>
                  <a:gd name="connsiteY3" fmla="*/ 676528 h 2065189"/>
                  <a:gd name="connsiteX4" fmla="*/ 451042 w 1014846"/>
                  <a:gd name="connsiteY4" fmla="*/ 890168 h 2065189"/>
                  <a:gd name="connsiteX5" fmla="*/ 694368 w 1014846"/>
                  <a:gd name="connsiteY5" fmla="*/ 1091939 h 2065189"/>
                  <a:gd name="connsiteX6" fmla="*/ 836802 w 1014846"/>
                  <a:gd name="connsiteY6" fmla="*/ 1204694 h 2065189"/>
                  <a:gd name="connsiteX7" fmla="*/ 694368 w 1014846"/>
                  <a:gd name="connsiteY7" fmla="*/ 1317448 h 2065189"/>
                  <a:gd name="connsiteX8" fmla="*/ 492586 w 1014846"/>
                  <a:gd name="connsiteY8" fmla="*/ 1442072 h 2065189"/>
                  <a:gd name="connsiteX9" fmla="*/ 296738 w 1014846"/>
                  <a:gd name="connsiteY9" fmla="*/ 1578564 h 2065189"/>
                  <a:gd name="connsiteX10" fmla="*/ 160238 w 1014846"/>
                  <a:gd name="connsiteY10" fmla="*/ 1685384 h 2065189"/>
                  <a:gd name="connsiteX11" fmla="*/ 83086 w 1014846"/>
                  <a:gd name="connsiteY11" fmla="*/ 1780336 h 2065189"/>
                  <a:gd name="connsiteX12" fmla="*/ 89021 w 1014846"/>
                  <a:gd name="connsiteY12" fmla="*/ 2065189 h 2065189"/>
                  <a:gd name="connsiteX13" fmla="*/ 801194 w 1014846"/>
                  <a:gd name="connsiteY13" fmla="*/ 2065189 h 2065189"/>
                  <a:gd name="connsiteX14" fmla="*/ 979237 w 1014846"/>
                  <a:gd name="connsiteY14" fmla="*/ 2035517 h 2065189"/>
                  <a:gd name="connsiteX15" fmla="*/ 1014846 w 1014846"/>
                  <a:gd name="connsiteY15" fmla="*/ 29673 h 2065189"/>
                  <a:gd name="connsiteX16" fmla="*/ 706237 w 1014846"/>
                  <a:gd name="connsiteY16" fmla="*/ 23738 h 206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4846" h="2065189">
                    <a:moveTo>
                      <a:pt x="706237" y="23738"/>
                    </a:moveTo>
                    <a:lnTo>
                      <a:pt x="0" y="0"/>
                    </a:lnTo>
                    <a:lnTo>
                      <a:pt x="23739" y="480691"/>
                    </a:lnTo>
                    <a:lnTo>
                      <a:pt x="219586" y="676528"/>
                    </a:lnTo>
                    <a:lnTo>
                      <a:pt x="451042" y="890168"/>
                    </a:lnTo>
                    <a:lnTo>
                      <a:pt x="694368" y="1091939"/>
                    </a:lnTo>
                    <a:lnTo>
                      <a:pt x="836802" y="1204694"/>
                    </a:lnTo>
                    <a:lnTo>
                      <a:pt x="694368" y="1317448"/>
                    </a:lnTo>
                    <a:lnTo>
                      <a:pt x="492586" y="1442072"/>
                    </a:lnTo>
                    <a:lnTo>
                      <a:pt x="296738" y="1578564"/>
                    </a:lnTo>
                    <a:lnTo>
                      <a:pt x="160238" y="1685384"/>
                    </a:lnTo>
                    <a:lnTo>
                      <a:pt x="83086" y="1780336"/>
                    </a:lnTo>
                    <a:lnTo>
                      <a:pt x="89021" y="2065189"/>
                    </a:lnTo>
                    <a:lnTo>
                      <a:pt x="801194" y="2065189"/>
                    </a:lnTo>
                    <a:lnTo>
                      <a:pt x="979237" y="2035517"/>
                    </a:lnTo>
                    <a:lnTo>
                      <a:pt x="1014846" y="29673"/>
                    </a:lnTo>
                    <a:lnTo>
                      <a:pt x="706237" y="23738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23567" name="TextBox 21"/>
            <p:cNvSpPr txBox="1">
              <a:spLocks noChangeArrowheads="1"/>
            </p:cNvSpPr>
            <p:nvPr/>
          </p:nvSpPr>
          <p:spPr bwMode="auto">
            <a:xfrm>
              <a:off x="3505200" y="3352800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/>
                <a:t>Adapter!</a:t>
              </a:r>
            </a:p>
          </p:txBody>
        </p:sp>
      </p:grpSp>
      <p:sp>
        <p:nvSpPr>
          <p:cNvPr id="23557" name="TextBox 8"/>
          <p:cNvSpPr txBox="1">
            <a:spLocks noChangeArrowheads="1"/>
          </p:cNvSpPr>
          <p:nvPr/>
        </p:nvSpPr>
        <p:spPr bwMode="auto">
          <a:xfrm>
            <a:off x="304800" y="2209800"/>
            <a:ext cx="11929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Newer	 </a:t>
            </a:r>
          </a:p>
        </p:txBody>
      </p:sp>
      <p:sp>
        <p:nvSpPr>
          <p:cNvPr id="23558" name="TextBox 17"/>
          <p:cNvSpPr txBox="1">
            <a:spLocks noChangeArrowheads="1"/>
          </p:cNvSpPr>
          <p:nvPr/>
        </p:nvSpPr>
        <p:spPr bwMode="auto">
          <a:xfrm>
            <a:off x="2895600" y="2209800"/>
            <a:ext cx="1865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The Adapter</a:t>
            </a:r>
          </a:p>
        </p:txBody>
      </p:sp>
      <p:sp>
        <p:nvSpPr>
          <p:cNvPr id="23559" name="TextBox 18"/>
          <p:cNvSpPr txBox="1">
            <a:spLocks noChangeArrowheads="1"/>
          </p:cNvSpPr>
          <p:nvPr/>
        </p:nvSpPr>
        <p:spPr bwMode="auto">
          <a:xfrm>
            <a:off x="6248400" y="2209800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/>
              <a:t>Older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143000" y="3800475"/>
            <a:ext cx="1873250" cy="1843088"/>
            <a:chOff x="1143000" y="3800552"/>
            <a:chExt cx="1873831" cy="1842713"/>
          </a:xfrm>
        </p:grpSpPr>
        <p:sp>
          <p:nvSpPr>
            <p:cNvPr id="10" name="Circular Arrow 9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5" name="TextBox 11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18469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request()</a:t>
              </a:r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4648200" y="3810000"/>
            <a:ext cx="3694113" cy="1843088"/>
            <a:chOff x="1143000" y="3800552"/>
            <a:chExt cx="3693890" cy="1842713"/>
          </a:xfrm>
        </p:grpSpPr>
        <p:sp>
          <p:nvSpPr>
            <p:cNvPr id="25" name="Circular Arrow 24"/>
            <p:cNvSpPr/>
            <p:nvPr/>
          </p:nvSpPr>
          <p:spPr>
            <a:xfrm rot="1638268" flipV="1">
              <a:off x="1340431" y="3800552"/>
              <a:ext cx="1676400" cy="1600200"/>
            </a:xfrm>
            <a:prstGeom prst="circularArrow">
              <a:avLst>
                <a:gd name="adj1" fmla="val 11217"/>
                <a:gd name="adj2" fmla="val 1113134"/>
                <a:gd name="adj3" fmla="val 20465295"/>
                <a:gd name="adj4" fmla="val 13085292"/>
                <a:gd name="adj5" fmla="val 17366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563" name="TextBox 25"/>
            <p:cNvSpPr txBox="1">
              <a:spLocks noChangeArrowheads="1"/>
            </p:cNvSpPr>
            <p:nvPr/>
          </p:nvSpPr>
          <p:spPr bwMode="auto">
            <a:xfrm>
              <a:off x="1143000" y="5181600"/>
              <a:ext cx="3693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latin typeface="Courier" charset="0"/>
                </a:rPr>
                <a:t>translatedRequest()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C5570E-D098-2849-9C9F-F7734DA9275C}"/>
              </a:ext>
            </a:extLst>
          </p:cNvPr>
          <p:cNvSpPr txBox="1"/>
          <p:nvPr/>
        </p:nvSpPr>
        <p:spPr>
          <a:xfrm>
            <a:off x="1306194" y="5801945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hasNext</a:t>
            </a:r>
            <a:r>
              <a:rPr lang="en-US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D767-8D6C-834E-B8C5-CD426D5DFADB}"/>
              </a:ext>
            </a:extLst>
          </p:cNvPr>
          <p:cNvSpPr txBox="1"/>
          <p:nvPr/>
        </p:nvSpPr>
        <p:spPr>
          <a:xfrm>
            <a:off x="5270148" y="5801945"/>
            <a:ext cx="287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hasMoreElements</a:t>
            </a:r>
            <a:r>
              <a:rPr lang="en-US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2745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Legacy Code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There is code that exposes that Enumeration interface, but, for consistency, we’d like to only use Iterators.</a:t>
            </a:r>
          </a:p>
          <a:p>
            <a:pPr eaLnBrk="1" hangingPunct="1">
              <a:buFont typeface="Wingdings 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pic>
        <p:nvPicPr>
          <p:cNvPr id="4" name="Content Placeholder 3" descr="Adapter Pattern (Better Version)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2" t="3412" r="2747" b="70880"/>
          <a:stretch>
            <a:fillRect/>
          </a:stretch>
        </p:blipFill>
        <p:spPr>
          <a:xfrm>
            <a:off x="381000" y="1676400"/>
            <a:ext cx="8575675" cy="3733800"/>
          </a:xfrm>
        </p:spPr>
      </p:pic>
      <p:sp>
        <p:nvSpPr>
          <p:cNvPr id="2" name="TextBox 1"/>
          <p:cNvSpPr txBox="1"/>
          <p:nvPr/>
        </p:nvSpPr>
        <p:spPr>
          <a:xfrm>
            <a:off x="5638800" y="2133600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312467"/>
            <a:ext cx="193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Enumeration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pic>
        <p:nvPicPr>
          <p:cNvPr id="348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52600"/>
            <a:ext cx="7197725" cy="462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0609356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678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???? implements ???? {</a:t>
            </a:r>
          </a:p>
          <a:p>
            <a:r>
              <a:rPr lang="en-US" dirty="0"/>
              <a:t>       ????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260606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???? {</a:t>
            </a:r>
          </a:p>
          <a:p>
            <a:r>
              <a:rPr lang="en-US" dirty="0"/>
              <a:t>       ????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030997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</a:t>
            </a:r>
            <a:r>
              <a:rPr lang="en-US" dirty="0">
                <a:solidFill>
                  <a:srgbClr val="FF0000"/>
                </a:solidFill>
              </a:rPr>
              <a:t>Iterator</a:t>
            </a:r>
            <a:r>
              <a:rPr lang="en-US" dirty="0"/>
              <a:t> {</a:t>
            </a:r>
          </a:p>
          <a:p>
            <a:r>
              <a:rPr lang="en-US" dirty="0"/>
              <a:t>       ????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1614928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</a:t>
            </a:r>
            <a:r>
              <a:rPr lang="en-US" dirty="0">
                <a:solidFill>
                  <a:srgbClr val="FF0000"/>
                </a:solidFill>
              </a:rPr>
              <a:t>Iterator</a:t>
            </a:r>
            <a:r>
              <a:rPr lang="en-US" dirty="0"/>
              <a:t> {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Enumeration</a:t>
            </a:r>
            <a:r>
              <a:rPr lang="en-US" dirty="0"/>
              <a:t>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7138442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Adapter to make Enumerations look like Iterators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315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</a:t>
            </a:r>
            <a:r>
              <a:rPr lang="en-US" dirty="0">
                <a:solidFill>
                  <a:srgbClr val="FF0000"/>
                </a:solidFill>
              </a:rPr>
              <a:t>Iterator</a:t>
            </a:r>
            <a:r>
              <a:rPr lang="en-US" dirty="0"/>
              <a:t> {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Enumeration</a:t>
            </a:r>
            <a:r>
              <a:rPr lang="en-US" dirty="0"/>
              <a:t>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hasNext</a:t>
            </a:r>
            <a:r>
              <a:rPr lang="en-US" dirty="0"/>
              <a:t>() {</a:t>
            </a:r>
          </a:p>
          <a:p>
            <a:r>
              <a:rPr lang="en-US" dirty="0"/>
              <a:t>            return </a:t>
            </a:r>
            <a:r>
              <a:rPr lang="en-US" dirty="0" err="1"/>
              <a:t>adaptee.hasMoreElements</a:t>
            </a:r>
            <a:r>
              <a:rPr lang="en-US" dirty="0"/>
              <a:t>();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1566032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How about remove()?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315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</a:t>
            </a:r>
            <a:r>
              <a:rPr lang="en-US" dirty="0">
                <a:solidFill>
                  <a:srgbClr val="FF0000"/>
                </a:solidFill>
              </a:rPr>
              <a:t>Iterator</a:t>
            </a:r>
            <a:r>
              <a:rPr lang="en-US" dirty="0"/>
              <a:t> {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Enumeration</a:t>
            </a:r>
            <a:r>
              <a:rPr lang="en-US" dirty="0"/>
              <a:t>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hasNext</a:t>
            </a:r>
            <a:r>
              <a:rPr lang="en-US" dirty="0"/>
              <a:t>() {</a:t>
            </a:r>
          </a:p>
          <a:p>
            <a:r>
              <a:rPr lang="en-US" dirty="0"/>
              <a:t>            return </a:t>
            </a:r>
            <a:r>
              <a:rPr lang="en-US" dirty="0" err="1"/>
              <a:t>adaptee.hasMoreElements</a:t>
            </a:r>
            <a:r>
              <a:rPr lang="en-US" dirty="0"/>
              <a:t>();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void remove() { ???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821702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Does Not Have to Be Perfect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5400" y="1600200"/>
            <a:ext cx="762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>
                <a:solidFill>
                  <a:srgbClr val="FF0000"/>
                </a:solidFill>
              </a:rPr>
              <a:t>EnumerationIterator</a:t>
            </a:r>
            <a:r>
              <a:rPr lang="en-US" dirty="0"/>
              <a:t> implements </a:t>
            </a:r>
            <a:r>
              <a:rPr lang="en-US" dirty="0">
                <a:solidFill>
                  <a:srgbClr val="FF0000"/>
                </a:solidFill>
              </a:rPr>
              <a:t>Iterator</a:t>
            </a:r>
            <a:r>
              <a:rPr lang="en-US" dirty="0"/>
              <a:t> {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rgbClr val="FF0000"/>
                </a:solidFill>
              </a:rPr>
              <a:t>Enumeration</a:t>
            </a:r>
            <a:r>
              <a:rPr lang="en-US" dirty="0"/>
              <a:t>  </a:t>
            </a:r>
            <a:r>
              <a:rPr lang="en-US" dirty="0" err="1"/>
              <a:t>adaptee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hasNext</a:t>
            </a:r>
            <a:r>
              <a:rPr lang="en-US" dirty="0"/>
              <a:t>() {</a:t>
            </a:r>
          </a:p>
          <a:p>
            <a:r>
              <a:rPr lang="en-US" dirty="0"/>
              <a:t>            return </a:t>
            </a:r>
            <a:r>
              <a:rPr lang="en-US" dirty="0" err="1"/>
              <a:t>adaptee.hasMoreElements</a:t>
            </a:r>
            <a:r>
              <a:rPr lang="en-US" dirty="0"/>
              <a:t>();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void remove() {</a:t>
            </a:r>
          </a:p>
          <a:p>
            <a:r>
              <a:rPr lang="en-US" dirty="0"/>
              <a:t>            throw new </a:t>
            </a:r>
            <a:r>
              <a:rPr lang="en-US" dirty="0" err="1"/>
              <a:t>UnsupportedOpertaionException</a:t>
            </a:r>
            <a:r>
              <a:rPr lang="en-US" dirty="0"/>
              <a:t>();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2386719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B6CF-E06A-AA45-B6A3-2C72522D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Bonus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5C10-EAB9-9449-8D49-487414A73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Finish course evaluation by the end of Wednesday’s class</a:t>
            </a:r>
          </a:p>
          <a:p>
            <a:pPr lvl="1"/>
            <a:r>
              <a:rPr lang="en-US"/>
              <a:t>1%</a:t>
            </a:r>
          </a:p>
          <a:p>
            <a:pPr lvl="1"/>
            <a:r>
              <a:rPr lang="en-US"/>
              <a:t>Stop by to tell me that you finished it</a:t>
            </a:r>
          </a:p>
          <a:p>
            <a:pPr lvl="1"/>
            <a:r>
              <a:rPr lang="en-US"/>
              <a:t>Do it in class on Wednesday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07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600" y="1762125"/>
            <a:ext cx="7361685" cy="4062073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022691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Iterator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05000"/>
            <a:ext cx="7403100" cy="2437606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1404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000" y="1546225"/>
            <a:ext cx="6516966" cy="2525714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5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000" y="3406546"/>
            <a:ext cx="6779413" cy="2917370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65533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0" y="1570939"/>
            <a:ext cx="6851942" cy="4361979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219200" y="3200400"/>
            <a:ext cx="5638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19200" y="3505200"/>
            <a:ext cx="3810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822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 descr="Iterator Pattern(3)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20478" b="67275"/>
          <a:stretch/>
        </p:blipFill>
        <p:spPr>
          <a:xfrm>
            <a:off x="658552" y="1664704"/>
            <a:ext cx="7826896" cy="4558880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7474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078" y="1828800"/>
            <a:ext cx="5801844" cy="3810167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13745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1531810"/>
            <a:ext cx="4657726" cy="27019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600" y="4326407"/>
            <a:ext cx="6399623" cy="1714488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89770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5225" y="1762125"/>
            <a:ext cx="6813550" cy="1592778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8558" y="3472613"/>
            <a:ext cx="7166884" cy="2519363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592321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can put textbooks or smaller backpacks in a backpack</a:t>
            </a:r>
          </a:p>
          <a:p>
            <a:r>
              <a:rPr lang="en-US"/>
              <a:t>Given a backpack, print what it contains.</a:t>
            </a:r>
          </a:p>
          <a:p>
            <a:pPr lvl="1"/>
            <a:r>
              <a:rPr lang="en-US"/>
              <a:t>A textbook prints the title, e.g. “Design Patterns”</a:t>
            </a:r>
          </a:p>
          <a:p>
            <a:pPr lvl="1"/>
            <a:r>
              <a:rPr lang="en-US"/>
              <a:t>A backpack just prints “Backpack: “</a:t>
            </a:r>
          </a:p>
          <a:p>
            <a:pPr lvl="1"/>
            <a:r>
              <a:rPr lang="en-US"/>
              <a:t>Textbooks/backpack in a smaller backpack indented by one more tab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4271963"/>
            <a:ext cx="47117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8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Adapter vs. Decorator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are </a:t>
            </a:r>
            <a:r>
              <a:rPr lang="ja-JP" altLang="en-US">
                <a:ea typeface="ＭＳ 明朝" charset="-128"/>
              </a:rPr>
              <a:t>“</a:t>
            </a:r>
            <a:r>
              <a:rPr lang="en-US" altLang="ja-JP"/>
              <a:t>wrapping</a:t>
            </a:r>
            <a:r>
              <a:rPr lang="ja-JP" altLang="en-US">
                <a:ea typeface="ＭＳ 明朝" charset="-128"/>
              </a:rPr>
              <a:t>”</a:t>
            </a:r>
            <a:r>
              <a:rPr lang="en-US" altLang="ja-JP"/>
              <a:t> objects similarly to how we did in Decorator</a:t>
            </a:r>
          </a:p>
          <a:p>
            <a:pPr eaLnBrk="1" hangingPunct="1"/>
            <a:r>
              <a:rPr lang="en-US" altLang="en-US"/>
              <a:t>How is Adapter different from decorator?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Façade Pattern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Situation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 complex subsystem of classes that work together to perform higher level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Create a class whose methods are those higher level operations and whose responsibility is making all of the classes work together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Another example of Wrapping, but this time we are </a:t>
            </a:r>
            <a:r>
              <a:rPr lang="ja-JP" altLang="en-US" sz="2800">
                <a:ea typeface="ＭＳ 明朝" charset="-128"/>
              </a:rPr>
              <a:t>“</a:t>
            </a:r>
            <a:r>
              <a:rPr lang="en-US" altLang="ja-JP" sz="2800"/>
              <a:t>wrapping</a:t>
            </a:r>
            <a:r>
              <a:rPr lang="ja-JP" altLang="en-US" sz="2800">
                <a:ea typeface="ＭＳ 明朝" charset="-128"/>
              </a:rPr>
              <a:t>”</a:t>
            </a:r>
            <a:r>
              <a:rPr lang="en-US" altLang="ja-JP" sz="2800"/>
              <a:t> a set of classes</a:t>
            </a:r>
            <a:endParaRPr lang="en-US" altLang="en-US" sz="2800"/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Façade Pattern Defined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façade pattern provides a unified interface to a set of interfaces in a subsystem.  Façade defines a higher-level interface that makes the subsystem easier to use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Adapter vs. Façade</a:t>
            </a:r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Both patterns may wrap more than one class.</a:t>
            </a:r>
          </a:p>
          <a:p>
            <a:pPr eaLnBrk="1" hangingPunct="1"/>
            <a:r>
              <a:rPr lang="en-US" altLang="en-US"/>
              <a:t>The main difference is in the intent of the pattern. </a:t>
            </a:r>
          </a:p>
          <a:p>
            <a:pPr eaLnBrk="1" hangingPunct="1"/>
            <a:r>
              <a:rPr lang="en-US" altLang="en-US"/>
              <a:t>Adapter provides a </a:t>
            </a:r>
            <a:r>
              <a:rPr lang="en-US" altLang="en-US" b="1"/>
              <a:t>one-to-one</a:t>
            </a:r>
            <a:r>
              <a:rPr lang="en-US" altLang="en-US"/>
              <a:t> translation of methods. </a:t>
            </a:r>
          </a:p>
          <a:p>
            <a:pPr eaLnBrk="1" hangingPunct="1"/>
            <a:r>
              <a:rPr lang="en-US" altLang="en-US"/>
              <a:t>Façade provides an interface that simplifies complex operations into single method calls. 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Have you been good?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 you want to see a bewildering video about turkeys?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ddle">
  <a:themeElements>
    <a:clrScheme name="Saddle">
      <a:dk1>
        <a:srgbClr val="302C24"/>
      </a:dk1>
      <a:lt1>
        <a:sysClr val="window" lastClr="FFFFFF"/>
      </a:lt1>
      <a:dk2>
        <a:srgbClr val="AC6416"/>
      </a:dk2>
      <a:lt2>
        <a:srgbClr val="E8E4DB"/>
      </a:lt2>
      <a:accent1>
        <a:srgbClr val="C6B178"/>
      </a:accent1>
      <a:accent2>
        <a:srgbClr val="9C5B14"/>
      </a:accent2>
      <a:accent3>
        <a:srgbClr val="71B2BC"/>
      </a:accent3>
      <a:accent4>
        <a:srgbClr val="78AA5D"/>
      </a:accent4>
      <a:accent5>
        <a:srgbClr val="867099"/>
      </a:accent5>
      <a:accent6>
        <a:srgbClr val="4C6F75"/>
      </a:accent6>
      <a:hlink>
        <a:srgbClr val="F27B0E"/>
      </a:hlink>
      <a:folHlink>
        <a:srgbClr val="989268"/>
      </a:folHlink>
    </a:clrScheme>
    <a:fontScheme name="Saddle">
      <a:majorFont>
        <a:latin typeface="Book Antiqu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Book Antiqu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Saddle">
      <a:fillStyleLst>
        <a:solidFill>
          <a:schemeClr val="phClr"/>
        </a:solidFill>
        <a:gradFill rotWithShape="1">
          <a:gsLst>
            <a:gs pos="0">
              <a:schemeClr val="phClr"/>
            </a:gs>
            <a:gs pos="30000">
              <a:schemeClr val="phClr">
                <a:tint val="80000"/>
              </a:schemeClr>
            </a:gs>
            <a:gs pos="100000">
              <a:schemeClr val="phClr">
                <a:tint val="100000"/>
              </a:schemeClr>
            </a:gs>
          </a:gsLst>
          <a:path path="rect">
            <a:fillToRect l="50000" r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30000"/>
                <a:satMod val="120000"/>
              </a:schemeClr>
            </a:duotone>
          </a:blip>
          <a:stretch/>
        </a:blip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50800" cap="flat" cmpd="dbl" algn="ctr">
          <a:solidFill>
            <a:schemeClr val="phClr"/>
          </a:solidFill>
          <a:prstDash val="solid"/>
        </a:ln>
        <a:ln w="7620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FFFFFF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sunrise" dir="tl">
              <a:rot lat="0" lon="0" rev="1200000"/>
            </a:lightRig>
          </a:scene3d>
          <a:sp3d prstMaterial="softEdge">
            <a:bevelT w="0" h="0"/>
          </a:sp3d>
        </a:effectStyle>
        <a:effectStyle>
          <a:effectLst>
            <a:innerShdw blurRad="76200" dist="38100" dir="13500000">
              <a:srgbClr val="FFFFFF">
                <a:alpha val="75000"/>
              </a:srgbClr>
            </a:innerShdw>
          </a:effectLst>
          <a:scene3d>
            <a:camera prst="perspectiveFront" fov="2400000"/>
            <a:lightRig rig="twoPt" dir="tl"/>
          </a:scene3d>
          <a:sp3d>
            <a:bevelT w="25400" h="12700" prst="angle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250000"/>
              </a:schemeClr>
              <a:schemeClr val="phClr">
                <a:tint val="50000"/>
                <a:satMod val="200000"/>
              </a:schemeClr>
            </a:duotone>
          </a:blip>
          <a:stretch/>
        </a:blipFill>
        <a:blipFill rotWithShape="1">
          <a:blip xmlns:r="http://schemas.openxmlformats.org/officeDocument/2006/relationships" r:embed="rId3">
            <a:duotone>
              <a:schemeClr val="phClr">
                <a:shade val="90000"/>
                <a:hueMod val="90000"/>
                <a:satMod val="150000"/>
                <a:lumMod val="90000"/>
              </a:schemeClr>
              <a:schemeClr val="phClr">
                <a:tint val="70000"/>
                <a:shade val="80000"/>
                <a:satMod val="3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addle">
    <a:dk1>
      <a:srgbClr val="302C24"/>
    </a:dk1>
    <a:lt1>
      <a:sysClr val="window" lastClr="FFFFFF"/>
    </a:lt1>
    <a:dk2>
      <a:srgbClr val="AC6416"/>
    </a:dk2>
    <a:lt2>
      <a:srgbClr val="E8E4DB"/>
    </a:lt2>
    <a:accent1>
      <a:srgbClr val="C6B178"/>
    </a:accent1>
    <a:accent2>
      <a:srgbClr val="9C5B14"/>
    </a:accent2>
    <a:accent3>
      <a:srgbClr val="71B2BC"/>
    </a:accent3>
    <a:accent4>
      <a:srgbClr val="78AA5D"/>
    </a:accent4>
    <a:accent5>
      <a:srgbClr val="867099"/>
    </a:accent5>
    <a:accent6>
      <a:srgbClr val="4C6F75"/>
    </a:accent6>
    <a:hlink>
      <a:srgbClr val="F27B0E"/>
    </a:hlink>
    <a:folHlink>
      <a:srgbClr val="989268"/>
    </a:folHlink>
  </a:clrScheme>
</a:themeOverride>
</file>

<file path=ppt/theme/themeOverride2.xml><?xml version="1.0" encoding="utf-8"?>
<a:themeOverride xmlns:a="http://schemas.openxmlformats.org/drawingml/2006/main">
  <a:clrScheme name="Saddle">
    <a:dk1>
      <a:srgbClr val="302C24"/>
    </a:dk1>
    <a:lt1>
      <a:sysClr val="window" lastClr="FFFFFF"/>
    </a:lt1>
    <a:dk2>
      <a:srgbClr val="AC6416"/>
    </a:dk2>
    <a:lt2>
      <a:srgbClr val="E8E4DB"/>
    </a:lt2>
    <a:accent1>
      <a:srgbClr val="C6B178"/>
    </a:accent1>
    <a:accent2>
      <a:srgbClr val="9C5B14"/>
    </a:accent2>
    <a:accent3>
      <a:srgbClr val="71B2BC"/>
    </a:accent3>
    <a:accent4>
      <a:srgbClr val="78AA5D"/>
    </a:accent4>
    <a:accent5>
      <a:srgbClr val="867099"/>
    </a:accent5>
    <a:accent6>
      <a:srgbClr val="4C6F75"/>
    </a:accent6>
    <a:hlink>
      <a:srgbClr val="F27B0E"/>
    </a:hlink>
    <a:folHlink>
      <a:srgbClr val="989268"/>
    </a:folHlink>
  </a:clrScheme>
</a:themeOverride>
</file>

<file path=ppt/theme/themeOverride3.xml><?xml version="1.0" encoding="utf-8"?>
<a:themeOverride xmlns:a="http://schemas.openxmlformats.org/drawingml/2006/main">
  <a:clrScheme name="Saddle">
    <a:dk1>
      <a:srgbClr val="302C24"/>
    </a:dk1>
    <a:lt1>
      <a:sysClr val="window" lastClr="FFFFFF"/>
    </a:lt1>
    <a:dk2>
      <a:srgbClr val="AC6416"/>
    </a:dk2>
    <a:lt2>
      <a:srgbClr val="E8E4DB"/>
    </a:lt2>
    <a:accent1>
      <a:srgbClr val="C6B178"/>
    </a:accent1>
    <a:accent2>
      <a:srgbClr val="9C5B14"/>
    </a:accent2>
    <a:accent3>
      <a:srgbClr val="71B2BC"/>
    </a:accent3>
    <a:accent4>
      <a:srgbClr val="78AA5D"/>
    </a:accent4>
    <a:accent5>
      <a:srgbClr val="867099"/>
    </a:accent5>
    <a:accent6>
      <a:srgbClr val="4C6F75"/>
    </a:accent6>
    <a:hlink>
      <a:srgbClr val="F27B0E"/>
    </a:hlink>
    <a:folHlink>
      <a:srgbClr val="98926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58573</TotalTime>
  <Words>1445</Words>
  <Application>Microsoft Macintosh PowerPoint</Application>
  <PresentationFormat>On-screen Show (4:3)</PresentationFormat>
  <Paragraphs>265</Paragraphs>
  <Slides>43</Slides>
  <Notes>22</Notes>
  <HiddenSlides>19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Book Antiqua</vt:lpstr>
      <vt:lpstr>Courier</vt:lpstr>
      <vt:lpstr>Wingdings 2</vt:lpstr>
      <vt:lpstr>Saddle</vt:lpstr>
      <vt:lpstr>The Adapter Pattern </vt:lpstr>
      <vt:lpstr>An Adapter is… an Adapter!</vt:lpstr>
      <vt:lpstr>An Adapter is… an Adapter!</vt:lpstr>
      <vt:lpstr>Lab 6 Acceptance Tests and the Bazaar</vt:lpstr>
      <vt:lpstr>Lab 7</vt:lpstr>
      <vt:lpstr>Adaptor Pattern</vt:lpstr>
      <vt:lpstr>Using a B as an A</vt:lpstr>
      <vt:lpstr>Book’s Example: Ducks</vt:lpstr>
      <vt:lpstr>PowerPoint Presentation</vt:lpstr>
      <vt:lpstr>And then, there was this one time when we needed more Ducks…</vt:lpstr>
      <vt:lpstr>Adaptor Pattern Defined</vt:lpstr>
      <vt:lpstr>Adapter Pattern</vt:lpstr>
      <vt:lpstr>Adaptor Pattern  (Book’s Diagram)</vt:lpstr>
      <vt:lpstr>A Better Version</vt:lpstr>
      <vt:lpstr>Scene</vt:lpstr>
      <vt:lpstr>Scene</vt:lpstr>
      <vt:lpstr>Scene</vt:lpstr>
      <vt:lpstr>Scene</vt:lpstr>
      <vt:lpstr>Legacy Code</vt:lpstr>
      <vt:lpstr>Using Adapter to make Enumerations look like Iterators</vt:lpstr>
      <vt:lpstr>Using Adapter to make Enumerations look like Iterators</vt:lpstr>
      <vt:lpstr>Using Adapter to make Enumerations look like Iterators</vt:lpstr>
      <vt:lpstr>Using Adapter to make Enumerations look like Iterators</vt:lpstr>
      <vt:lpstr>Using Adapter to make Enumerations look like Iterators</vt:lpstr>
      <vt:lpstr>Using Adapter to make Enumerations look like Iterators</vt:lpstr>
      <vt:lpstr>Using Adapter to make Enumerations look like Iterators</vt:lpstr>
      <vt:lpstr>How about remove()?</vt:lpstr>
      <vt:lpstr>Does Not Have to Be Perfect</vt:lpstr>
      <vt:lpstr>Last Bonus Opportunity</vt:lpstr>
      <vt:lpstr>Review: Iterator</vt:lpstr>
      <vt:lpstr>Review: Iterator</vt:lpstr>
      <vt:lpstr>Review: Iterator</vt:lpstr>
      <vt:lpstr>Review: Iterator</vt:lpstr>
      <vt:lpstr>Review: Iterator</vt:lpstr>
      <vt:lpstr>Review: Composite</vt:lpstr>
      <vt:lpstr>Review: Composite</vt:lpstr>
      <vt:lpstr>Review: Composite</vt:lpstr>
      <vt:lpstr>Review: Composite</vt:lpstr>
      <vt:lpstr>Adapter vs. Decorator</vt:lpstr>
      <vt:lpstr>Façade Pattern</vt:lpstr>
      <vt:lpstr>Façade Pattern Defined</vt:lpstr>
      <vt:lpstr>Adapter vs. Façade</vt:lpstr>
      <vt:lpstr>Have you been good?</vt:lpstr>
    </vt:vector>
  </TitlesOfParts>
  <Company>Office 2004 Test Drive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Adapter and facade</dc:title>
  <dc:creator>Office 2004 Test Drive User</dc:creator>
  <cp:lastModifiedBy>Huo, Chen</cp:lastModifiedBy>
  <cp:revision>50</cp:revision>
  <cp:lastPrinted>2019-12-03T19:56:03Z</cp:lastPrinted>
  <dcterms:created xsi:type="dcterms:W3CDTF">2006-10-26T03:04:48Z</dcterms:created>
  <dcterms:modified xsi:type="dcterms:W3CDTF">2023-12-18T06:06:29Z</dcterms:modified>
</cp:coreProperties>
</file>