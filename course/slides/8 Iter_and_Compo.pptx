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69" r:id="rId4"/>
    <p:sldId id="259" r:id="rId5"/>
    <p:sldId id="260" r:id="rId6"/>
    <p:sldId id="262" r:id="rId7"/>
    <p:sldId id="261" r:id="rId8"/>
    <p:sldId id="263" r:id="rId9"/>
    <p:sldId id="265" r:id="rId10"/>
    <p:sldId id="267" r:id="rId11"/>
    <p:sldId id="268" r:id="rId12"/>
    <p:sldId id="266" r:id="rId13"/>
    <p:sldId id="270" r:id="rId14"/>
    <p:sldId id="275" r:id="rId15"/>
    <p:sldId id="273" r:id="rId16"/>
    <p:sldId id="274" r:id="rId17"/>
    <p:sldId id="271" r:id="rId18"/>
    <p:sldId id="272" r:id="rId19"/>
    <p:sldId id="300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304" r:id="rId28"/>
    <p:sldId id="301" r:id="rId29"/>
    <p:sldId id="284" r:id="rId30"/>
    <p:sldId id="285" r:id="rId31"/>
    <p:sldId id="286" r:id="rId32"/>
    <p:sldId id="299" r:id="rId33"/>
    <p:sldId id="298" r:id="rId34"/>
    <p:sldId id="305" r:id="rId35"/>
    <p:sldId id="287" r:id="rId36"/>
    <p:sldId id="302" r:id="rId37"/>
    <p:sldId id="289" r:id="rId38"/>
    <p:sldId id="288" r:id="rId39"/>
    <p:sldId id="292" r:id="rId40"/>
    <p:sldId id="297" r:id="rId41"/>
    <p:sldId id="293" r:id="rId42"/>
    <p:sldId id="294" r:id="rId43"/>
    <p:sldId id="295" r:id="rId44"/>
    <p:sldId id="296" r:id="rId45"/>
    <p:sldId id="303" r:id="rId46"/>
    <p:sldId id="290" r:id="rId47"/>
    <p:sldId id="291" r:id="rId48"/>
    <p:sldId id="258" r:id="rId49"/>
    <p:sldId id="264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o, Chen" initials="H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04"/>
    <p:restoredTop sz="97199"/>
  </p:normalViewPr>
  <p:slideViewPr>
    <p:cSldViewPr snapToGrid="0" snapToObjects="1">
      <p:cViewPr varScale="1">
        <p:scale>
          <a:sx n="132" d="100"/>
          <a:sy n="132" d="100"/>
        </p:scale>
        <p:origin x="1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36628-A678-3B4C-A730-4E4083D4B5A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7513-428D-C142-85D9-13344AFE8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19FA4-D5BC-5E41-ADEA-359BEAF142C8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48B40-8CF8-9B4C-90D6-E7DD488C8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1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Map().</a:t>
            </a:r>
            <a:r>
              <a:rPr lang="en-US" dirty="0" err="1"/>
              <a:t>entrySet</a:t>
            </a:r>
            <a:r>
              <a:rPr lang="en-US" dirty="0"/>
              <a:t>().iterator()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15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while loop</a:t>
            </a:r>
            <a:r>
              <a:rPr lang="en-US" baseline="0" dirty="0"/>
              <a:t> </a:t>
            </a:r>
            <a:r>
              <a:rPr lang="en-US" baseline="0" dirty="0" err="1"/>
              <a:t>disapears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57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So the waitress</a:t>
            </a:r>
            <a:r>
              <a:rPr lang="en-US" baseline="0" dirty="0"/>
              <a:t> will show you two menus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0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Menu contains</a:t>
            </a:r>
            <a:r>
              <a:rPr lang="en-US" baseline="0" dirty="0"/>
              <a:t> several menu items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1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menu items are store in an</a:t>
            </a:r>
            <a:r>
              <a:rPr lang="en-US" baseline="0" dirty="0"/>
              <a:t> </a:t>
            </a:r>
            <a:r>
              <a:rPr lang="en-US" baseline="0" dirty="0" err="1"/>
              <a:t>arraylist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78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write</a:t>
            </a:r>
            <a:r>
              <a:rPr lang="en-US" baseline="0" dirty="0"/>
              <a:t> add menu</a:t>
            </a:r>
          </a:p>
          <a:p>
            <a:r>
              <a:rPr lang="en-US" baseline="0" dirty="0"/>
              <a:t>maintain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2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ways to get items</a:t>
            </a:r>
          </a:p>
          <a:p>
            <a:r>
              <a:rPr lang="en-US" dirty="0"/>
              <a:t>different</a:t>
            </a:r>
            <a:r>
              <a:rPr lang="en-US" baseline="0" dirty="0"/>
              <a:t> ways to get size</a:t>
            </a:r>
          </a:p>
          <a:p>
            <a:r>
              <a:rPr lang="en-US" baseline="0" dirty="0"/>
              <a:t>different ways to get a certain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28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ways to get items</a:t>
            </a:r>
          </a:p>
          <a:p>
            <a:r>
              <a:rPr lang="en-US" dirty="0"/>
              <a:t>different</a:t>
            </a:r>
            <a:r>
              <a:rPr lang="en-US" baseline="0" dirty="0"/>
              <a:t> ways to get size</a:t>
            </a:r>
          </a:p>
          <a:p>
            <a:r>
              <a:rPr lang="en-US" baseline="0" dirty="0"/>
              <a:t>different ways to get a certain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40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Throughout</a:t>
            </a:r>
            <a:r>
              <a:rPr lang="en-US" baseline="0" dirty="0"/>
              <a:t> the course, we are talking about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7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95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en-US" baseline="0" dirty="0"/>
              <a:t> iterator encapsulates the structure of array’s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1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iterate the item</a:t>
            </a:r>
            <a:r>
              <a:rPr lang="en-US" baseline="0" dirty="0"/>
              <a:t>s in both menus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65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iterate the item</a:t>
            </a:r>
            <a:r>
              <a:rPr lang="en-US" baseline="0" dirty="0"/>
              <a:t>s in both menus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67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 we define an</a:t>
            </a:r>
            <a:r>
              <a:rPr lang="en-US" baseline="0" dirty="0"/>
              <a:t> additional iterator class? Can we implement the iterator in the menu class?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67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Exactly two sub</a:t>
            </a:r>
            <a:r>
              <a:rPr lang="en-US" baseline="0" dirty="0"/>
              <a:t>-menu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67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Exactly two sub</a:t>
            </a:r>
            <a:r>
              <a:rPr lang="en-US" baseline="0" dirty="0"/>
              <a:t>-menu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03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menu under a menu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99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73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48B40-8CF8-9B4C-90D6-E7DD488C814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38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9C25AC7-7BF3-4E48-B5B4-9DF815B6BAC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9B752C0-5D2F-6A49-82A6-82331FD21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replit.com/@engr120/iterator-inclass-iterable#Iterator.java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Iterator &amp; Composite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Well-Managed Collections</a:t>
            </a:r>
          </a:p>
        </p:txBody>
      </p:sp>
    </p:spTree>
    <p:extLst>
      <p:ext uri="{BB962C8B-B14F-4D97-AF65-F5344CB8AC3E}">
        <p14:creationId xmlns:p14="http://schemas.microsoft.com/office/powerpoint/2010/main" val="74694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It is very handy to be able to “visit” every item in a collection without worrying about how the collection is implemented.</a:t>
            </a:r>
          </a:p>
          <a:p>
            <a:endParaRPr lang="en-US" sz="2000" dirty="0"/>
          </a:p>
          <a:p>
            <a:r>
              <a:rPr lang="en-US" sz="2000" dirty="0"/>
              <a:t>Print out the elements in the following array: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122" y="4840969"/>
            <a:ext cx="4419600" cy="342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319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It is very handy to be able to “visit” every item in a collection without worrying about how the collection is implemented.</a:t>
            </a:r>
          </a:p>
          <a:p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072" y="3782165"/>
            <a:ext cx="4457700" cy="14732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3820438" y="5740028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Infinite loop</a:t>
            </a:r>
          </a:p>
        </p:txBody>
      </p:sp>
    </p:spTree>
    <p:extLst>
      <p:ext uri="{BB962C8B-B14F-4D97-AF65-F5344CB8AC3E}">
        <p14:creationId xmlns:p14="http://schemas.microsoft.com/office/powerpoint/2010/main" val="161432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How about this?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272" y="3642812"/>
            <a:ext cx="4559300" cy="16891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2804277" y="6039995"/>
            <a:ext cx="354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ArrayIndexOutOfBoundsException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4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How about this?</a:t>
            </a:r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472" y="3555130"/>
            <a:ext cx="4406900" cy="17018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88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To correctly iterate through the array, you need to:</a:t>
            </a:r>
          </a:p>
          <a:p>
            <a:pPr lvl="1"/>
            <a:r>
              <a:rPr lang="en-US" sz="1800" dirty="0"/>
              <a:t>Know that array index starts at 0</a:t>
            </a:r>
          </a:p>
          <a:p>
            <a:pPr lvl="1"/>
            <a:r>
              <a:rPr lang="en-US" sz="1800" dirty="0"/>
              <a:t>The index of the last element of the array is the length minus one</a:t>
            </a:r>
          </a:p>
          <a:p>
            <a:pPr lvl="1"/>
            <a:r>
              <a:rPr lang="en-US" sz="1800" dirty="0"/>
              <a:t>increment </a:t>
            </a:r>
            <a:r>
              <a:rPr lang="en-US" sz="1800" dirty="0" err="1"/>
              <a:t>i</a:t>
            </a:r>
            <a:r>
              <a:rPr lang="en-US" sz="1800" dirty="0"/>
              <a:t> AFTER accessing the element (otherwise you start at -1)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472" y="4889128"/>
            <a:ext cx="4406900" cy="17018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221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Is this better?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72" y="3579436"/>
            <a:ext cx="4356100" cy="12192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5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To correctly iterate through the array, you need to:</a:t>
            </a:r>
          </a:p>
          <a:p>
            <a:pPr lvl="1"/>
            <a:r>
              <a:rPr lang="en-US" sz="1800" dirty="0"/>
              <a:t>Know that array index starts at 0</a:t>
            </a:r>
          </a:p>
          <a:p>
            <a:pPr lvl="1"/>
            <a:r>
              <a:rPr lang="en-US" sz="1800" dirty="0"/>
              <a:t>The index of the last element of the array is the length minus one</a:t>
            </a:r>
          </a:p>
          <a:p>
            <a:pPr lvl="1"/>
            <a:r>
              <a:rPr lang="en-US" sz="1800" strike="sngStrike" dirty="0"/>
              <a:t>increment </a:t>
            </a:r>
            <a:r>
              <a:rPr lang="en-US" sz="1800" strike="sngStrike" dirty="0" err="1"/>
              <a:t>i</a:t>
            </a:r>
            <a:r>
              <a:rPr lang="en-US" sz="1800" strike="sngStrike" dirty="0"/>
              <a:t> after accessing the element (otherwise you start at -1)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72" y="5005461"/>
            <a:ext cx="4356100" cy="12192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754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To correctly iterate through the array, you need to:</a:t>
            </a:r>
          </a:p>
          <a:p>
            <a:pPr lvl="1"/>
            <a:r>
              <a:rPr lang="en-US" sz="1800" dirty="0"/>
              <a:t>How about just: the collection can be iterated?</a:t>
            </a:r>
          </a:p>
          <a:p>
            <a:pPr lvl="1"/>
            <a:r>
              <a:rPr lang="en-US" sz="1800" dirty="0"/>
              <a:t>Java Lists can be iterated. They have ”iterators”.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622" y="4189036"/>
            <a:ext cx="5562600" cy="14986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1418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Still has the ugly while loop</a:t>
            </a:r>
          </a:p>
          <a:p>
            <a:r>
              <a:rPr lang="en-US" sz="2000" dirty="0"/>
              <a:t>However, if the collection has a </a:t>
            </a:r>
            <a:r>
              <a:rPr lang="en-US" sz="2000" dirty="0" err="1"/>
              <a:t>java.util.Iterator</a:t>
            </a:r>
            <a:r>
              <a:rPr lang="en-US" sz="2000" dirty="0"/>
              <a:t>, you do not need to know about the internal structure of the collection.</a:t>
            </a:r>
          </a:p>
          <a:p>
            <a:r>
              <a:rPr lang="en-US" sz="2000" dirty="0"/>
              <a:t>e.g. </a:t>
            </a:r>
            <a:r>
              <a:rPr lang="en-US" sz="2000" dirty="0" err="1"/>
              <a:t>ArrayList</a:t>
            </a:r>
            <a:r>
              <a:rPr lang="en-US" sz="2000" dirty="0"/>
              <a:t>, </a:t>
            </a:r>
            <a:r>
              <a:rPr lang="en-US" sz="2000" dirty="0" err="1"/>
              <a:t>LinkedList</a:t>
            </a:r>
            <a:r>
              <a:rPr lang="en-US" sz="2000" dirty="0"/>
              <a:t>, </a:t>
            </a:r>
            <a:r>
              <a:rPr lang="en-US" sz="2000" dirty="0" err="1"/>
              <a:t>HashSet</a:t>
            </a:r>
            <a:r>
              <a:rPr lang="en-US" sz="2000" dirty="0"/>
              <a:t>, </a:t>
            </a:r>
            <a:r>
              <a:rPr lang="mr-IN" sz="2000" dirty="0"/>
              <a:t>…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You still need to know when to stop: when the iterator does not have next. But it is about the iterator.</a:t>
            </a:r>
          </a:p>
        </p:txBody>
      </p:sp>
    </p:spTree>
    <p:extLst>
      <p:ext uri="{BB962C8B-B14F-4D97-AF65-F5344CB8AC3E}">
        <p14:creationId xmlns:p14="http://schemas.microsoft.com/office/powerpoint/2010/main" val="169001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things in 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Higher order functions, e.g., </a:t>
            </a:r>
            <a:r>
              <a:rPr lang="en-US" sz="2000" dirty="0" err="1"/>
              <a:t>forEach</a:t>
            </a:r>
            <a:r>
              <a:rPr lang="en-US" sz="2000" dirty="0"/>
              <a:t>()</a:t>
            </a:r>
          </a:p>
          <a:p>
            <a:r>
              <a:rPr lang="en-US" sz="2000" dirty="0"/>
              <a:t>Many languages have these since a long time ago: Python, Scala, Ruby, </a:t>
            </a:r>
            <a:r>
              <a:rPr lang="mr-IN" sz="2000" dirty="0"/>
              <a:t>…</a:t>
            </a:r>
            <a:endParaRPr lang="en-US" sz="2000" dirty="0"/>
          </a:p>
          <a:p>
            <a:r>
              <a:rPr lang="en-US" sz="2000" dirty="0"/>
              <a:t>Before Java 8, you may use </a:t>
            </a:r>
            <a:r>
              <a:rPr lang="en-US" sz="2000" dirty="0" err="1"/>
              <a:t>com.google.guava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045" y="5346328"/>
            <a:ext cx="5727700" cy="78740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319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controls the iteration?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External Iterator:</a:t>
            </a:r>
          </a:p>
          <a:p>
            <a:pPr lvl="1"/>
            <a:r>
              <a:rPr lang="en-US" sz="2000" dirty="0"/>
              <a:t>When the client controls the iteration</a:t>
            </a:r>
          </a:p>
          <a:p>
            <a:pPr lvl="1"/>
            <a:r>
              <a:rPr lang="en-US" sz="2000" dirty="0"/>
              <a:t>while (</a:t>
            </a:r>
            <a:r>
              <a:rPr lang="en-US" sz="2000" dirty="0" err="1"/>
              <a:t>iter.hasNext</a:t>
            </a:r>
            <a:r>
              <a:rPr lang="en-US" sz="2000" dirty="0"/>
              <a:t>()) </a:t>
            </a:r>
            <a:r>
              <a:rPr lang="mr-IN" sz="2000" dirty="0"/>
              <a:t>…</a:t>
            </a:r>
            <a:r>
              <a:rPr lang="en-US" sz="2000" dirty="0"/>
              <a:t> </a:t>
            </a:r>
            <a:r>
              <a:rPr lang="en-US" sz="2000" dirty="0" err="1"/>
              <a:t>iter.next</a:t>
            </a:r>
            <a:r>
              <a:rPr lang="en-US" sz="2000" dirty="0"/>
              <a:t>() </a:t>
            </a:r>
            <a:r>
              <a:rPr lang="mr-IN" sz="2000" dirty="0"/>
              <a:t>…</a:t>
            </a:r>
            <a:endParaRPr lang="en-US" sz="2000" dirty="0"/>
          </a:p>
          <a:p>
            <a:r>
              <a:rPr lang="en-US" sz="2400" dirty="0"/>
              <a:t>Internal Iterator:</a:t>
            </a:r>
          </a:p>
          <a:p>
            <a:pPr lvl="1"/>
            <a:r>
              <a:rPr lang="en-US" sz="2000" dirty="0"/>
              <a:t>When the “iterator” controls the iteration</a:t>
            </a:r>
          </a:p>
          <a:p>
            <a:pPr lvl="1"/>
            <a:r>
              <a:rPr lang="en-US" sz="2000" dirty="0" err="1"/>
              <a:t>forEach</a:t>
            </a:r>
            <a:r>
              <a:rPr lang="en-US" sz="2000" dirty="0"/>
              <a:t> </a:t>
            </a:r>
            <a:r>
              <a:rPr lang="mr-IN" sz="2000" dirty="0"/>
              <a:t>…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481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through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Traversing the Cells in the Environment</a:t>
            </a:r>
          </a:p>
          <a:p>
            <a:r>
              <a:rPr lang="en-US" sz="2400" dirty="0"/>
              <a:t>Book’s Example: Combining Menus</a:t>
            </a:r>
          </a:p>
          <a:p>
            <a:r>
              <a:rPr lang="en-US" sz="2400" dirty="0" err="1"/>
              <a:t>Objectville</a:t>
            </a:r>
            <a:r>
              <a:rPr lang="en-US" sz="2400" dirty="0"/>
              <a:t> Diner joins </a:t>
            </a:r>
            <a:r>
              <a:rPr lang="en-US" sz="2400" dirty="0" err="1"/>
              <a:t>Objectville</a:t>
            </a:r>
            <a:r>
              <a:rPr lang="en-US" sz="2400" dirty="0"/>
              <a:t> Pancake House</a:t>
            </a:r>
          </a:p>
        </p:txBody>
      </p:sp>
    </p:spTree>
    <p:extLst>
      <p:ext uri="{BB962C8B-B14F-4D97-AF65-F5344CB8AC3E}">
        <p14:creationId xmlns:p14="http://schemas.microsoft.com/office/powerpoint/2010/main" val="106404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 item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175" y="2809873"/>
            <a:ext cx="5836625" cy="2490789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077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pancake house 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98" y="2890185"/>
            <a:ext cx="7845448" cy="2681940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139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diner 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02" y="2855726"/>
            <a:ext cx="8428440" cy="2673537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0590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their menus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Waitress should be able to create custom menus for customers</a:t>
            </a:r>
          </a:p>
          <a:p>
            <a:pPr lvl="1"/>
            <a:r>
              <a:rPr lang="en-US" sz="2000" dirty="0"/>
              <a:t>the whole menu</a:t>
            </a:r>
          </a:p>
          <a:p>
            <a:pPr lvl="1"/>
            <a:r>
              <a:rPr lang="en-US" sz="2000" dirty="0"/>
              <a:t>just lunch or dinner items</a:t>
            </a:r>
          </a:p>
          <a:p>
            <a:pPr lvl="1"/>
            <a:r>
              <a:rPr lang="en-US" sz="2000" dirty="0"/>
              <a:t>just vegetarian items</a:t>
            </a:r>
          </a:p>
          <a:p>
            <a:pPr lvl="1"/>
            <a:r>
              <a:rPr lang="en-US" sz="2000" dirty="0"/>
              <a:t>should know if an item is vegetarian or not</a:t>
            </a:r>
          </a:p>
        </p:txBody>
      </p:sp>
    </p:spTree>
    <p:extLst>
      <p:ext uri="{BB962C8B-B14F-4D97-AF65-F5344CB8AC3E}">
        <p14:creationId xmlns:p14="http://schemas.microsoft.com/office/powerpoint/2010/main" val="684683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attempt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AD3CA4-FBF2-E548-85D1-78F890213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repl.it</a:t>
            </a:r>
            <a:r>
              <a:rPr lang="en-US" dirty="0"/>
              <a:t>/@engr120/iterator-</a:t>
            </a:r>
            <a:r>
              <a:rPr lang="en-US" dirty="0" err="1"/>
              <a:t>inclass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44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attempt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37" y="2424113"/>
            <a:ext cx="7103370" cy="391953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9248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encapsulate what varies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We have to handle different collections in different ways</a:t>
            </a:r>
          </a:p>
          <a:p>
            <a:r>
              <a:rPr lang="en-US" sz="2000" dirty="0"/>
              <a:t>We would like to encapsulate the difference of the traversal for a certain kind of collection</a:t>
            </a:r>
          </a:p>
          <a:p>
            <a:r>
              <a:rPr lang="en-US" sz="2000" dirty="0"/>
              <a:t>We are going to create a new class that encapsulates the data structure and provides interface to step through it</a:t>
            </a:r>
          </a:p>
          <a:p>
            <a:r>
              <a:rPr lang="en-US" sz="2000" dirty="0"/>
              <a:t>So that a client (waitress) can traverse the two menus in the same way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28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an iterator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80" y="2403473"/>
            <a:ext cx="5587884" cy="1839913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606045" y="4743450"/>
            <a:ext cx="59377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err="1"/>
              <a:t>hasNext</a:t>
            </a:r>
            <a:r>
              <a:rPr lang="en-US" sz="2000" dirty="0"/>
              <a:t>() returns a </a:t>
            </a:r>
            <a:r>
              <a:rPr lang="en-US" sz="2000" dirty="0" err="1"/>
              <a:t>boolean</a:t>
            </a:r>
            <a:r>
              <a:rPr lang="en-US" sz="2000" dirty="0"/>
              <a:t> indicating if there are more elements to iterate over.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next() does TWO things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/>
              <a:t>returns the “next” element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/>
              <a:t>and advances to the next element</a:t>
            </a:r>
          </a:p>
        </p:txBody>
      </p:sp>
    </p:spTree>
    <p:extLst>
      <p:ext uri="{BB962C8B-B14F-4D97-AF65-F5344CB8AC3E}">
        <p14:creationId xmlns:p14="http://schemas.microsoft.com/office/powerpoint/2010/main" val="711672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Diner menu iterator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39" y="2874962"/>
            <a:ext cx="6516966" cy="2525714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0328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diner menu iterator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215" y="2654755"/>
            <a:ext cx="6779413" cy="2917370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970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diner 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25" y="2665412"/>
            <a:ext cx="4787900" cy="3048000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357438" y="4429125"/>
            <a:ext cx="4371975" cy="728663"/>
          </a:xfrm>
          <a:prstGeom prst="rect">
            <a:avLst/>
          </a:prstGeom>
          <a:solidFill>
            <a:schemeClr val="tx1">
              <a:lumMod val="75000"/>
              <a:lumOff val="25000"/>
              <a:alpha val="72000"/>
            </a:schemeClr>
          </a:solidFill>
          <a:ln>
            <a:noFill/>
          </a:ln>
          <a:effectLst/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7438" y="3700462"/>
            <a:ext cx="4371975" cy="728663"/>
          </a:xfrm>
          <a:prstGeom prst="rect">
            <a:avLst/>
          </a:prstGeom>
          <a:solidFill>
            <a:schemeClr val="tx1">
              <a:lumMod val="75000"/>
              <a:lumOff val="25000"/>
              <a:alpha val="72000"/>
            </a:schemeClr>
          </a:solidFill>
          <a:ln>
            <a:noFill/>
          </a:ln>
          <a:effectLst/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9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 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37" y="2424113"/>
            <a:ext cx="7103370" cy="3919538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7937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58" y="2339384"/>
            <a:ext cx="7966328" cy="4159410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A8C2D6-07EB-13DE-32AD-0872C1E7B30A}"/>
              </a:ext>
            </a:extLst>
          </p:cNvPr>
          <p:cNvSpPr/>
          <p:nvPr/>
        </p:nvSpPr>
        <p:spPr>
          <a:xfrm>
            <a:off x="3200400" y="5387009"/>
            <a:ext cx="2951922" cy="29817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7EDFD-9EF3-8EF5-6DF8-81E2E369625D}"/>
              </a:ext>
            </a:extLst>
          </p:cNvPr>
          <p:cNvSpPr txBox="1"/>
          <p:nvPr/>
        </p:nvSpPr>
        <p:spPr>
          <a:xfrm>
            <a:off x="2295939" y="5871155"/>
            <a:ext cx="5960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Next() returns an Object. So you need to cast it to </a:t>
            </a:r>
            <a:r>
              <a:rPr lang="en-US" dirty="0" err="1"/>
              <a:t>MenuItem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E2CD-359D-AB69-D4B7-DBB7FB790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generic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BAEE-15F6-7307-2E6D-8EEC79ED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63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ABBECD-C21B-4441-8141-41A85419D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Answer the questions on the ice while looking at the </a:t>
            </a:r>
            <a:r>
              <a:rPr lang="en-US" dirty="0" err="1"/>
              <a:t>repl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replit.com</a:t>
            </a:r>
            <a:r>
              <a:rPr lang="en-US" dirty="0"/>
              <a:t>/@engr120/iterator-</a:t>
            </a:r>
            <a:r>
              <a:rPr lang="en-US" dirty="0" err="1"/>
              <a:t>inclass</a:t>
            </a:r>
            <a:r>
              <a:rPr lang="en-US" dirty="0"/>
              <a:t>-iterator</a:t>
            </a:r>
          </a:p>
        </p:txBody>
      </p:sp>
    </p:spTree>
    <p:extLst>
      <p:ext uri="{BB962C8B-B14F-4D97-AF65-F5344CB8AC3E}">
        <p14:creationId xmlns:p14="http://schemas.microsoft.com/office/powerpoint/2010/main" val="956470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iterator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03109" y="3186112"/>
            <a:ext cx="6143625" cy="1569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gradFill>
              <a:gsLst>
                <a:gs pos="56018">
                  <a:srgbClr val="FCDEA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Iterator Pattern</a:t>
            </a:r>
            <a:r>
              <a:rPr lang="en-US" sz="2400" dirty="0"/>
              <a:t> provides a way to access the elements of an aggregate object sequentially without exposing its underlying</a:t>
            </a:r>
          </a:p>
          <a:p>
            <a:r>
              <a:rPr lang="en-US" sz="2400" dirty="0"/>
              <a:t>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606158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722376"/>
            <a:ext cx="5937755" cy="1188720"/>
          </a:xfrm>
        </p:spPr>
        <p:txBody>
          <a:bodyPr/>
          <a:lstStyle/>
          <a:p>
            <a:r>
              <a:rPr lang="en-US" dirty="0" err="1"/>
              <a:t>uml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5" descr="Iterator Pattern(3)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20478" b="67275"/>
          <a:stretch/>
        </p:blipFill>
        <p:spPr>
          <a:xfrm>
            <a:off x="789367" y="2063960"/>
            <a:ext cx="7826896" cy="455888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315075" y="4343400"/>
            <a:ext cx="2301188" cy="2297454"/>
          </a:xfrm>
          <a:prstGeom prst="rect">
            <a:avLst/>
          </a:prstGeom>
          <a:solidFill>
            <a:schemeClr val="accent1"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782" y="2407212"/>
            <a:ext cx="8166605" cy="4019930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We went to a lot of trouble to create a separate iterator class, and it would not have been that hard to let the Aggregate class provide the </a:t>
            </a:r>
            <a:r>
              <a:rPr lang="en-US" sz="2400" dirty="0" err="1"/>
              <a:t>hasNext</a:t>
            </a:r>
            <a:r>
              <a:rPr lang="en-US" sz="2400" dirty="0"/>
              <a:t>() and next() methods. 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Each time we add a responsibility to a class (e.g. providing a way to iterate through the collection), we open ourselves up to another source of change. 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It can be very hard to know when a responsibility is part of the core mission of a class and when it should be separated.  </a:t>
            </a:r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03109" y="2407212"/>
            <a:ext cx="614362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gradFill>
              <a:gsLst>
                <a:gs pos="56018">
                  <a:srgbClr val="FCDEA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A class should have only one reason </a:t>
            </a:r>
            <a:r>
              <a:rPr lang="en-US" sz="2400"/>
              <a:t>to change.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193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java.util.iterator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352" y="2636836"/>
            <a:ext cx="4813139" cy="3021013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7585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CDC9-EFEC-354B-A4BA-983DF5E7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 one, get one free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4D171-CB34-CF4E-82DA-52B42FF78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the “</a:t>
            </a:r>
            <a:r>
              <a:rPr lang="en-US" dirty="0" err="1"/>
              <a:t>forEach</a:t>
            </a:r>
            <a:r>
              <a:rPr lang="en-US" dirty="0"/>
              <a:t>” in </a:t>
            </a:r>
            <a:r>
              <a:rPr lang="en-US" dirty="0" err="1"/>
              <a:t>notifyObservers</a:t>
            </a:r>
            <a:r>
              <a:rPr lang="en-US" dirty="0"/>
              <a:t>() come from?</a:t>
            </a:r>
          </a:p>
          <a:p>
            <a:r>
              <a:rPr lang="en-US" dirty="0"/>
              <a:t>How do you know a List would have “</a:t>
            </a:r>
            <a:r>
              <a:rPr lang="en-US" dirty="0" err="1"/>
              <a:t>forEach</a:t>
            </a:r>
            <a:r>
              <a:rPr lang="en-US" dirty="0"/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181332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1F1C-45D0-B391-A66E-5974DBE4F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866DB-556B-BCB0-862C-757184E58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3891964"/>
          </a:xfrm>
        </p:spPr>
        <p:txBody>
          <a:bodyPr>
            <a:normAutofit/>
          </a:bodyPr>
          <a:lstStyle/>
          <a:p>
            <a:r>
              <a:rPr lang="en-US" dirty="0"/>
              <a:t>The standard Java library has implemented a structure just like the Iterator pattern</a:t>
            </a:r>
          </a:p>
          <a:p>
            <a:r>
              <a:rPr lang="en-US" dirty="0"/>
              <a:t>Any </a:t>
            </a:r>
            <a:r>
              <a:rPr lang="en-US" dirty="0" err="1"/>
              <a:t>Iterable</a:t>
            </a:r>
            <a:r>
              <a:rPr lang="en-US" dirty="0"/>
              <a:t> must have a iterator() method which returns an Iterator</a:t>
            </a:r>
          </a:p>
          <a:p>
            <a:pPr lvl="1"/>
            <a:r>
              <a:rPr lang="en-US" dirty="0"/>
              <a:t>Similar to </a:t>
            </a:r>
            <a:r>
              <a:rPr lang="en-US" dirty="0" err="1"/>
              <a:t>createIterator</a:t>
            </a:r>
            <a:r>
              <a:rPr lang="en-US" dirty="0"/>
              <a:t>()</a:t>
            </a:r>
          </a:p>
          <a:p>
            <a:r>
              <a:rPr lang="en-US" dirty="0"/>
              <a:t>If we declare our menus as </a:t>
            </a:r>
            <a:r>
              <a:rPr lang="en-US" dirty="0" err="1"/>
              <a:t>Iterables</a:t>
            </a:r>
            <a:r>
              <a:rPr lang="en-US" dirty="0"/>
              <a:t>, we can make use other benefits the standard library has created for </a:t>
            </a:r>
            <a:r>
              <a:rPr lang="en-US" dirty="0" err="1"/>
              <a:t>Iterables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https://replit.com/@engr120/iterator-inclass-iterable</a:t>
            </a:r>
            <a:endParaRPr lang="en-US" dirty="0"/>
          </a:p>
          <a:p>
            <a:pPr lvl="1"/>
            <a:r>
              <a:rPr lang="en-US" dirty="0"/>
              <a:t>Where we use the Java Iterator, not ours</a:t>
            </a:r>
          </a:p>
          <a:p>
            <a:pPr lvl="1"/>
            <a:r>
              <a:rPr lang="en-US" dirty="0"/>
              <a:t>The Menus are </a:t>
            </a:r>
            <a:r>
              <a:rPr lang="en-US" dirty="0" err="1"/>
              <a:t>Iterables</a:t>
            </a:r>
            <a:r>
              <a:rPr lang="en-US" dirty="0"/>
              <a:t> with iterator() method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2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pattern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965" y="2495550"/>
            <a:ext cx="5007914" cy="3101975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070965" y="5939663"/>
            <a:ext cx="5281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TWO sub-menus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Menu items under the two sub-menus</a:t>
            </a:r>
          </a:p>
        </p:txBody>
      </p:sp>
    </p:spTree>
    <p:extLst>
      <p:ext uri="{BB962C8B-B14F-4D97-AF65-F5344CB8AC3E}">
        <p14:creationId xmlns:p14="http://schemas.microsoft.com/office/powerpoint/2010/main" val="95940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the 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965" y="2495550"/>
            <a:ext cx="5007914" cy="3101975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070965" y="5939663"/>
            <a:ext cx="5281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TWO sub-menus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Menu items under the two sub-menus</a:t>
            </a:r>
          </a:p>
        </p:txBody>
      </p:sp>
    </p:spTree>
    <p:extLst>
      <p:ext uri="{BB962C8B-B14F-4D97-AF65-F5344CB8AC3E}">
        <p14:creationId xmlns:p14="http://schemas.microsoft.com/office/powerpoint/2010/main" val="223142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dessert 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000" y="2509838"/>
            <a:ext cx="5801844" cy="3810167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82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 and menu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Can we encapsulate the difference between the menu and the menu items?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596" y="3559175"/>
            <a:ext cx="5200651" cy="3016903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517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Menu: Has children (menu items), print the children.</a:t>
            </a:r>
          </a:p>
          <a:p>
            <a:r>
              <a:rPr lang="en-US" sz="2400" dirty="0" err="1"/>
              <a:t>MenuItem</a:t>
            </a:r>
            <a:r>
              <a:rPr lang="en-US" sz="2400" dirty="0"/>
              <a:t>: No children, print the item.</a:t>
            </a:r>
          </a:p>
          <a:p>
            <a:r>
              <a:rPr lang="en-US" sz="2400" dirty="0"/>
              <a:t>https://</a:t>
            </a:r>
            <a:r>
              <a:rPr lang="en-US" sz="2400" dirty="0" err="1"/>
              <a:t>repl.it</a:t>
            </a:r>
            <a:r>
              <a:rPr lang="en-US" sz="2400" dirty="0"/>
              <a:t>/@engr120/composite-menu</a:t>
            </a:r>
          </a:p>
        </p:txBody>
      </p:sp>
    </p:spTree>
    <p:extLst>
      <p:ext uri="{BB962C8B-B14F-4D97-AF65-F5344CB8AC3E}">
        <p14:creationId xmlns:p14="http://schemas.microsoft.com/office/powerpoint/2010/main" val="1899013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122" y="2210187"/>
            <a:ext cx="5937755" cy="3101983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repl.it</a:t>
            </a:r>
            <a:r>
              <a:rPr lang="en-US" dirty="0"/>
              <a:t>/@engr120/composite-backpack-ice</a:t>
            </a:r>
          </a:p>
          <a:p>
            <a:r>
              <a:rPr lang="en-US" dirty="0"/>
              <a:t>You can put textbooks or smaller backpacks in a backpack</a:t>
            </a:r>
          </a:p>
          <a:p>
            <a:r>
              <a:rPr lang="en-US" dirty="0"/>
              <a:t>Given a backpack, print what it contains.</a:t>
            </a:r>
          </a:p>
          <a:p>
            <a:pPr lvl="1"/>
            <a:r>
              <a:rPr lang="en-US" dirty="0"/>
              <a:t>A textbook prints the title, e.g. “Design Patterns”</a:t>
            </a:r>
          </a:p>
          <a:p>
            <a:pPr lvl="1"/>
            <a:r>
              <a:rPr lang="en-US" dirty="0"/>
              <a:t>A backpack just prints “Backpack: “</a:t>
            </a:r>
          </a:p>
          <a:p>
            <a:pPr lvl="1"/>
            <a:r>
              <a:rPr lang="en-US" dirty="0"/>
              <a:t>Textbooks/backpack in a smaller backpack indented by two more spaces</a:t>
            </a:r>
          </a:p>
          <a:p>
            <a:pPr lvl="2"/>
            <a:r>
              <a:rPr lang="en-US" dirty="0"/>
              <a:t>print(string indent)</a:t>
            </a:r>
          </a:p>
        </p:txBody>
      </p:sp>
    </p:spTree>
    <p:extLst>
      <p:ext uri="{BB962C8B-B14F-4D97-AF65-F5344CB8AC3E}">
        <p14:creationId xmlns:p14="http://schemas.microsoft.com/office/powerpoint/2010/main" val="70193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menucomponent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110" y="3171836"/>
            <a:ext cx="6399623" cy="17144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3184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menuitem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47" y="3046412"/>
            <a:ext cx="6813550" cy="159277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2565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80" y="2709861"/>
            <a:ext cx="7166884" cy="2519363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3671889" y="4400551"/>
            <a:ext cx="1385886" cy="11572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86300" y="5586413"/>
            <a:ext cx="164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menu item or a menu</a:t>
            </a:r>
          </a:p>
        </p:txBody>
      </p:sp>
    </p:spTree>
    <p:extLst>
      <p:ext uri="{BB962C8B-B14F-4D97-AF65-F5344CB8AC3E}">
        <p14:creationId xmlns:p14="http://schemas.microsoft.com/office/powerpoint/2010/main" val="202672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346127"/>
            <a:ext cx="5937755" cy="1188720"/>
          </a:xfrm>
        </p:spPr>
        <p:txBody>
          <a:bodyPr/>
          <a:lstStyle/>
          <a:p>
            <a:r>
              <a:rPr lang="en-US" dirty="0"/>
              <a:t>the waitress 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615609"/>
            <a:ext cx="5937755" cy="389942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D18E0-15A0-2E4D-A132-4E124C3E20B7}"/>
              </a:ext>
            </a:extLst>
          </p:cNvPr>
          <p:cNvSpPr txBox="1"/>
          <p:nvPr/>
        </p:nvSpPr>
        <p:spPr>
          <a:xfrm>
            <a:off x="2671482" y="6142541"/>
            <a:ext cx="4069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repl.it</a:t>
            </a:r>
            <a:r>
              <a:rPr lang="en-US" dirty="0"/>
              <a:t>/@engr120/composite-menu</a:t>
            </a:r>
          </a:p>
        </p:txBody>
      </p:sp>
    </p:spTree>
    <p:extLst>
      <p:ext uri="{BB962C8B-B14F-4D97-AF65-F5344CB8AC3E}">
        <p14:creationId xmlns:p14="http://schemas.microsoft.com/office/powerpoint/2010/main" val="2105941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9BC0-3529-F246-AE0A-26BD5D22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0998DDE-8CED-2A4F-A1D9-2FFD00BAB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98" y="715645"/>
            <a:ext cx="9152198" cy="5014595"/>
          </a:xfrm>
        </p:spPr>
      </p:pic>
    </p:spTree>
    <p:extLst>
      <p:ext uri="{BB962C8B-B14F-4D97-AF65-F5344CB8AC3E}">
        <p14:creationId xmlns:p14="http://schemas.microsoft.com/office/powerpoint/2010/main" val="4193828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03109" y="3100387"/>
            <a:ext cx="6143625" cy="193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gradFill>
              <a:gsLst>
                <a:gs pos="56018">
                  <a:srgbClr val="FCDEA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Composite Pattern</a:t>
            </a:r>
            <a:r>
              <a:rPr lang="en-US" sz="2400" dirty="0"/>
              <a:t> allows you to compose objects into tree structures to represent part-whole hierarchies. Composite lets clients treat individual objects and compositions of objects uniformly.</a:t>
            </a:r>
          </a:p>
        </p:txBody>
      </p:sp>
    </p:spTree>
    <p:extLst>
      <p:ext uri="{BB962C8B-B14F-4D97-AF65-F5344CB8AC3E}">
        <p14:creationId xmlns:p14="http://schemas.microsoft.com/office/powerpoint/2010/main" val="1106393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uml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505" y="2338388"/>
            <a:ext cx="4434834" cy="4207154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5297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vs.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99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513827" cy="3750563"/>
          </a:xfrm>
        </p:spPr>
        <p:txBody>
          <a:bodyPr>
            <a:normAutofit/>
          </a:bodyPr>
          <a:lstStyle/>
          <a:p>
            <a:r>
              <a:rPr lang="en-US" sz="2800" dirty="0"/>
              <a:t>Read chapter 9</a:t>
            </a:r>
          </a:p>
          <a:p>
            <a:pPr lvl="1"/>
            <a:r>
              <a:rPr lang="en-US" sz="2600" dirty="0"/>
              <a:t>Skip the “</a:t>
            </a:r>
            <a:r>
              <a:rPr lang="en-US" sz="2600" dirty="0" err="1"/>
              <a:t>CompositeIterator</a:t>
            </a:r>
            <a:r>
              <a:rPr lang="en-US" sz="2600" dirty="0"/>
              <a:t>” part</a:t>
            </a:r>
          </a:p>
          <a:p>
            <a:r>
              <a:rPr lang="en-US" sz="2800" dirty="0"/>
              <a:t>Exam 2: Singleton, Factory, Command, Iterator, Composite</a:t>
            </a:r>
          </a:p>
          <a:p>
            <a:pPr lvl="1"/>
            <a:r>
              <a:rPr lang="en-US" sz="2600" dirty="0"/>
              <a:t>Nov 1</a:t>
            </a:r>
            <a:r>
              <a:rPr lang="en-US" altLang="zh-CN" sz="2600" dirty="0"/>
              <a:t>2</a:t>
            </a:r>
            <a:r>
              <a:rPr lang="en-US" sz="2600" dirty="0"/>
              <a:t> in class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1679444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23915</TotalTime>
  <Words>1255</Words>
  <Application>Microsoft Macintosh PowerPoint</Application>
  <PresentationFormat>On-screen Show (4:3)</PresentationFormat>
  <Paragraphs>181</Paragraphs>
  <Slides>49</Slides>
  <Notes>19</Notes>
  <HiddenSlides>13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Gill Sans MT</vt:lpstr>
      <vt:lpstr>Parcel</vt:lpstr>
      <vt:lpstr>Iterator &amp; Composite Pattern</vt:lpstr>
      <vt:lpstr>Displaying things in a collection</vt:lpstr>
      <vt:lpstr>Displaying things in a collection</vt:lpstr>
      <vt:lpstr>Displaying things in a collection</vt:lpstr>
      <vt:lpstr>Displaying things in a collection</vt:lpstr>
      <vt:lpstr>Displaying things in a collection</vt:lpstr>
      <vt:lpstr>Displaying things in a collection</vt:lpstr>
      <vt:lpstr>Displaying things in a collection</vt:lpstr>
      <vt:lpstr>Displaying things in a collection</vt:lpstr>
      <vt:lpstr>Displaying things in a collection</vt:lpstr>
      <vt:lpstr>Displaying things in a collection</vt:lpstr>
      <vt:lpstr>who controls the iteration?</vt:lpstr>
      <vt:lpstr>Traversing through collections</vt:lpstr>
      <vt:lpstr>menu item</vt:lpstr>
      <vt:lpstr>pancake house menu</vt:lpstr>
      <vt:lpstr>diner menu</vt:lpstr>
      <vt:lpstr>combining their menus</vt:lpstr>
      <vt:lpstr>First attempt</vt:lpstr>
      <vt:lpstr>First attempt</vt:lpstr>
      <vt:lpstr>encapsulate what varies</vt:lpstr>
      <vt:lpstr>Define an iterator</vt:lpstr>
      <vt:lpstr>Diner menu iterator</vt:lpstr>
      <vt:lpstr>diner menu iterator</vt:lpstr>
      <vt:lpstr>update diner menu</vt:lpstr>
      <vt:lpstr>previously …</vt:lpstr>
      <vt:lpstr>Now</vt:lpstr>
      <vt:lpstr>Review generic types</vt:lpstr>
      <vt:lpstr>ICE</vt:lpstr>
      <vt:lpstr>the iterator pattern</vt:lpstr>
      <vt:lpstr>uml</vt:lpstr>
      <vt:lpstr>design principle</vt:lpstr>
      <vt:lpstr>java.util.iterator</vt:lpstr>
      <vt:lpstr>Buy one, get one free</vt:lpstr>
      <vt:lpstr>In reality</vt:lpstr>
      <vt:lpstr>Composite pattern</vt:lpstr>
      <vt:lpstr>structure of the menu</vt:lpstr>
      <vt:lpstr>dessert menu</vt:lpstr>
      <vt:lpstr>menu and menu item</vt:lpstr>
      <vt:lpstr>printing</vt:lpstr>
      <vt:lpstr>Simpler example</vt:lpstr>
      <vt:lpstr>menucomponent</vt:lpstr>
      <vt:lpstr>menuitem</vt:lpstr>
      <vt:lpstr>menu</vt:lpstr>
      <vt:lpstr>the waitress prints</vt:lpstr>
      <vt:lpstr>PowerPoint Presentation</vt:lpstr>
      <vt:lpstr>composite pattern</vt:lpstr>
      <vt:lpstr>uml</vt:lpstr>
      <vt:lpstr>transparency vs. safety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Iterator &amp; Composite Pattern</dc:title>
  <dc:creator>Huo, Chen</dc:creator>
  <cp:lastModifiedBy>Huo, Chen</cp:lastModifiedBy>
  <cp:revision>77</cp:revision>
  <cp:lastPrinted>2024-11-05T18:13:13Z</cp:lastPrinted>
  <dcterms:created xsi:type="dcterms:W3CDTF">2017-11-09T00:33:24Z</dcterms:created>
  <dcterms:modified xsi:type="dcterms:W3CDTF">2025-11-04T19:16:30Z</dcterms:modified>
</cp:coreProperties>
</file>